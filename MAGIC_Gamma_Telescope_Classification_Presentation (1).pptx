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Baseline F1</c:v>
                </c:pt>
              </c:strCache>
            </c:strRef>
          </c:tx>
          <c:spPr>
            <a:solidFill>
              <a:srgbClr val="4A4E8F"/>
            </a:solidFill>
            <a:effectLst/>
          </c:spPr>
          <c:invertIfNegative val="0"/>
          <c:dLbls>
            <c:numFmt formatCode="#,##0" sourceLinked="0"/>
            <c:spPr>
              <a:noFill/>
              <a:ln>
                <a:noFill/>
              </a:ln>
              <a:effectLst/>
            </c:spPr>
            <c:txPr>
              <a:bodyPr/>
              <a:lstStyle/>
              <a:p>
                <a:pPr>
                  <a:defRPr sz="1200" b="0" i="0" u="none" strike="noStrike">
                    <a:solidFill>
                      <a:srgbClr val="E6E6F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KNN</c:v>
                </c:pt>
                <c:pt idx="1">
                  <c:v>SVM</c:v>
                </c:pt>
                <c:pt idx="2">
                  <c:v>LogReg</c:v>
                </c:pt>
              </c:strCache>
            </c:strRef>
          </c:cat>
          <c:val>
            <c:numRef>
              <c:f>Sheet1!$B$2:$B$4</c:f>
              <c:numCache>
                <c:formatCode>General</c:formatCode>
                <c:ptCount val="3"/>
                <c:pt idx="0">
                  <c:v>0.7369</c:v>
                </c:pt>
                <c:pt idx="1">
                  <c:v>0.6774</c:v>
                </c:pt>
                <c:pt idx="2">
                  <c:v>0.67359999999999998</c:v>
                </c:pt>
              </c:numCache>
            </c:numRef>
          </c:val>
          <c:extLst>
            <c:ext xmlns:c16="http://schemas.microsoft.com/office/drawing/2014/chart" uri="{C3380CC4-5D6E-409C-BE32-E72D297353CC}">
              <c16:uniqueId val="{00000000-8C5C-2F4C-9103-06D5ABA2F7C5}"/>
            </c:ext>
          </c:extLst>
        </c:ser>
        <c:ser>
          <c:idx val="1"/>
          <c:order val="1"/>
          <c:tx>
            <c:strRef>
              <c:f>Sheet1!$C$1</c:f>
              <c:strCache>
                <c:ptCount val="1"/>
                <c:pt idx="0">
                  <c:v>Optimised F1</c:v>
                </c:pt>
              </c:strCache>
            </c:strRef>
          </c:tx>
          <c:spPr>
            <a:solidFill>
              <a:srgbClr val="6C63FF"/>
            </a:solidFill>
            <a:effectLst/>
          </c:spPr>
          <c:invertIfNegative val="0"/>
          <c:dLbls>
            <c:numFmt formatCode="#,##0" sourceLinked="0"/>
            <c:spPr>
              <a:noFill/>
              <a:ln>
                <a:noFill/>
              </a:ln>
              <a:effectLst/>
            </c:spPr>
            <c:txPr>
              <a:bodyPr/>
              <a:lstStyle/>
              <a:p>
                <a:pPr>
                  <a:defRPr sz="1200" b="0" i="0" u="none" strike="noStrike">
                    <a:solidFill>
                      <a:srgbClr val="E6E6F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KNN</c:v>
                </c:pt>
                <c:pt idx="1">
                  <c:v>SVM</c:v>
                </c:pt>
                <c:pt idx="2">
                  <c:v>LogReg</c:v>
                </c:pt>
              </c:strCache>
            </c:strRef>
          </c:cat>
          <c:val>
            <c:numRef>
              <c:f>Sheet1!$C$2:$C$4</c:f>
              <c:numCache>
                <c:formatCode>General</c:formatCode>
                <c:ptCount val="3"/>
                <c:pt idx="0">
                  <c:v>0.75139999999999996</c:v>
                </c:pt>
                <c:pt idx="1">
                  <c:v>0.80710000000000004</c:v>
                </c:pt>
                <c:pt idx="2">
                  <c:v>0.67359999999999998</c:v>
                </c:pt>
              </c:numCache>
            </c:numRef>
          </c:val>
          <c:extLst>
            <c:ext xmlns:c16="http://schemas.microsoft.com/office/drawing/2014/chart" uri="{C3380CC4-5D6E-409C-BE32-E72D297353CC}">
              <c16:uniqueId val="{00000001-8C5C-2F4C-9103-06D5ABA2F7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8B0D0"/>
                </a:solidFill>
                <a:latin typeface="Arial"/>
              </a:defRPr>
            </a:pPr>
            <a:endParaRPr lang="en-US"/>
          </a:p>
        </c:txPr>
        <c:crossAx val="2094734552"/>
        <c:crosses val="autoZero"/>
        <c:auto val="1"/>
        <c:lblAlgn val="ctr"/>
        <c:lblOffset val="100"/>
        <c:noMultiLvlLbl val="1"/>
      </c:catAx>
      <c:valAx>
        <c:axId val="2094734552"/>
        <c:scaling>
          <c:orientation val="minMax"/>
          <c:max val="0.9"/>
          <c:min val="0.5"/>
        </c:scaling>
        <c:delete val="0"/>
        <c:axPos val="l"/>
        <c:majorGridlines>
          <c:spPr>
            <a:ln w="6350" cap="flat">
              <a:solidFill>
                <a:srgbClr val="2F224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8B0D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B8B0D0"/>
              </a:solidFill>
            </a:defRPr>
          </a:pPr>
          <a:endParaRPr lang="en-US"/>
        </a:p>
      </c:txPr>
    </c:legend>
    <c:plotVisOnly val="1"/>
    <c:dispBlanksAs val="span"/>
    <c:showDLblsOverMax val="1"/>
  </c:chart>
  <c:spPr>
    <a:solidFill>
      <a:srgbClr val="23183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85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6C63FF"/>
          </a:solidFill>
          <a:ln/>
        </p:spPr>
        <p:txBody>
          <a:bodyPr/>
          <a:lstStyle/>
          <a:p>
            <a:endParaRPr lang="en-US"/>
          </a:p>
        </p:txBody>
      </p:sp>
      <p:sp>
        <p:nvSpPr>
          <p:cNvPr id="3" name="Shape 1"/>
          <p:cNvSpPr/>
          <p:nvPr/>
        </p:nvSpPr>
        <p:spPr>
          <a:xfrm>
            <a:off x="8686800" y="731520"/>
            <a:ext cx="4114800" cy="4114800"/>
          </a:xfrm>
          <a:prstGeom prst="ellipse">
            <a:avLst/>
          </a:prstGeom>
          <a:solidFill>
            <a:srgbClr val="2B1E3E">
              <a:alpha val="40000"/>
            </a:srgbClr>
          </a:solidFill>
          <a:ln/>
        </p:spPr>
        <p:txBody>
          <a:bodyPr/>
          <a:lstStyle/>
          <a:p>
            <a:endParaRPr lang="en-US"/>
          </a:p>
        </p:txBody>
      </p:sp>
      <p:sp>
        <p:nvSpPr>
          <p:cNvPr id="4" name="Shape 2"/>
          <p:cNvSpPr/>
          <p:nvPr/>
        </p:nvSpPr>
        <p:spPr>
          <a:xfrm>
            <a:off x="9326880" y="1188720"/>
            <a:ext cx="2926080" cy="2926080"/>
          </a:xfrm>
          <a:prstGeom prst="ellipse">
            <a:avLst/>
          </a:prstGeom>
          <a:solidFill>
            <a:srgbClr val="4A4E8F">
              <a:alpha val="30000"/>
            </a:srgbClr>
          </a:solidFill>
          <a:ln/>
        </p:spPr>
        <p:txBody>
          <a:bodyPr/>
          <a:lstStyle/>
          <a:p>
            <a:endParaRPr lang="en-US"/>
          </a:p>
        </p:txBody>
      </p:sp>
      <p:sp>
        <p:nvSpPr>
          <p:cNvPr id="5" name="Text 3"/>
          <p:cNvSpPr/>
          <p:nvPr/>
        </p:nvSpPr>
        <p:spPr>
          <a:xfrm>
            <a:off x="731520" y="914400"/>
            <a:ext cx="8229600" cy="2560320"/>
          </a:xfrm>
          <a:prstGeom prst="rect">
            <a:avLst/>
          </a:prstGeom>
          <a:noFill/>
          <a:ln/>
        </p:spPr>
        <p:txBody>
          <a:bodyPr wrap="square" rtlCol="0" anchor="ctr"/>
          <a:lstStyle/>
          <a:p>
            <a:pPr marL="0" indent="0">
              <a:lnSpc>
                <a:spcPct val="110000"/>
              </a:lnSpc>
              <a:buNone/>
            </a:pPr>
            <a:r>
              <a:rPr lang="en-US" sz="4800" b="1" dirty="0">
                <a:solidFill>
                  <a:srgbClr val="FFFFFF"/>
                </a:solidFill>
                <a:latin typeface="Georgia" pitchFamily="34" charset="0"/>
                <a:ea typeface="Georgia" pitchFamily="34" charset="-122"/>
                <a:cs typeface="Georgia" pitchFamily="34" charset="-120"/>
              </a:rPr>
              <a:t>Physics Signal</a:t>
            </a:r>
            <a:endParaRPr lang="en-US" sz="4800" dirty="0"/>
          </a:p>
          <a:p>
            <a:pPr marL="0" indent="0">
              <a:lnSpc>
                <a:spcPct val="110000"/>
              </a:lnSpc>
              <a:buNone/>
            </a:pPr>
            <a:r>
              <a:rPr lang="en-US" sz="4800" b="1" dirty="0">
                <a:solidFill>
                  <a:srgbClr val="FFFFFF"/>
                </a:solidFill>
                <a:latin typeface="Georgia" pitchFamily="34" charset="0"/>
                <a:ea typeface="Georgia" pitchFamily="34" charset="-122"/>
                <a:cs typeface="Georgia" pitchFamily="34" charset="-120"/>
              </a:rPr>
              <a:t>Classification</a:t>
            </a:r>
            <a:endParaRPr lang="en-US" sz="4800" dirty="0"/>
          </a:p>
        </p:txBody>
      </p:sp>
      <p:sp>
        <p:nvSpPr>
          <p:cNvPr id="6" name="Text 4"/>
          <p:cNvSpPr/>
          <p:nvPr/>
        </p:nvSpPr>
        <p:spPr>
          <a:xfrm>
            <a:off x="731520" y="3383280"/>
            <a:ext cx="8229600" cy="1097280"/>
          </a:xfrm>
          <a:prstGeom prst="rect">
            <a:avLst/>
          </a:prstGeom>
          <a:noFill/>
          <a:ln/>
        </p:spPr>
        <p:txBody>
          <a:bodyPr wrap="square" rtlCol="0" anchor="ctr"/>
          <a:lstStyle/>
          <a:p>
            <a:pPr marL="0" indent="0">
              <a:lnSpc>
                <a:spcPct val="130000"/>
              </a:lnSpc>
              <a:buNone/>
            </a:pPr>
            <a:r>
              <a:rPr lang="en-US" sz="2000" dirty="0">
                <a:solidFill>
                  <a:srgbClr val="A490C2"/>
                </a:solidFill>
                <a:latin typeface="Calibri" pitchFamily="34" charset="0"/>
                <a:ea typeface="Calibri" pitchFamily="34" charset="-122"/>
                <a:cs typeface="Calibri" pitchFamily="34" charset="-120"/>
              </a:rPr>
              <a:t>Separating Gamma Rays from Hadronic Backgrounds</a:t>
            </a:r>
            <a:endParaRPr lang="en-US" sz="2000" dirty="0"/>
          </a:p>
          <a:p>
            <a:pPr marL="0" indent="0">
              <a:lnSpc>
                <a:spcPct val="130000"/>
              </a:lnSpc>
              <a:buNone/>
            </a:pPr>
            <a:r>
              <a:rPr lang="en-US" sz="2000" dirty="0">
                <a:solidFill>
                  <a:srgbClr val="A490C2"/>
                </a:solidFill>
                <a:latin typeface="Calibri" pitchFamily="34" charset="0"/>
                <a:ea typeface="Calibri" pitchFamily="34" charset="-122"/>
                <a:cs typeface="Calibri" pitchFamily="34" charset="-120"/>
              </a:rPr>
              <a:t>in Telescope Data</a:t>
            </a:r>
            <a:endParaRPr lang="en-US" sz="2000" dirty="0"/>
          </a:p>
        </p:txBody>
      </p:sp>
      <p:sp>
        <p:nvSpPr>
          <p:cNvPr id="7" name="Shape 5"/>
          <p:cNvSpPr/>
          <p:nvPr/>
        </p:nvSpPr>
        <p:spPr>
          <a:xfrm>
            <a:off x="731520" y="4754880"/>
            <a:ext cx="3657600" cy="0"/>
          </a:xfrm>
          <a:prstGeom prst="line">
            <a:avLst/>
          </a:prstGeom>
          <a:noFill/>
          <a:ln w="31750">
            <a:solidFill>
              <a:srgbClr val="6C63FF"/>
            </a:solidFill>
            <a:prstDash val="solid"/>
          </a:ln>
        </p:spPr>
        <p:txBody>
          <a:bodyPr/>
          <a:lstStyle/>
          <a:p>
            <a:endParaRPr lang="en-US"/>
          </a:p>
        </p:txBody>
      </p:sp>
      <p:sp>
        <p:nvSpPr>
          <p:cNvPr id="8" name="Text 6"/>
          <p:cNvSpPr/>
          <p:nvPr/>
        </p:nvSpPr>
        <p:spPr>
          <a:xfrm>
            <a:off x="731520" y="5029200"/>
            <a:ext cx="5486400" cy="457200"/>
          </a:xfrm>
          <a:prstGeom prst="rect">
            <a:avLst/>
          </a:prstGeom>
          <a:noFill/>
          <a:ln/>
        </p:spPr>
        <p:txBody>
          <a:bodyPr wrap="square" rtlCol="0" anchor="ctr"/>
          <a:lstStyle/>
          <a:p>
            <a:pPr marL="0" indent="0">
              <a:buNone/>
            </a:pPr>
            <a:r>
              <a:rPr lang="en-US" sz="1800" b="1" dirty="0">
                <a:solidFill>
                  <a:srgbClr val="E6E6FA"/>
                </a:solidFill>
                <a:latin typeface="Georgia" pitchFamily="34" charset="0"/>
                <a:ea typeface="Georgia" pitchFamily="34" charset="-122"/>
                <a:cs typeface="Georgia" pitchFamily="34" charset="-120"/>
              </a:rPr>
              <a:t>Shahab Zaman</a:t>
            </a:r>
            <a:endParaRPr lang="en-US" sz="1800" dirty="0"/>
          </a:p>
        </p:txBody>
      </p:sp>
      <p:sp>
        <p:nvSpPr>
          <p:cNvPr id="9" name="Text 7"/>
          <p:cNvSpPr/>
          <p:nvPr/>
        </p:nvSpPr>
        <p:spPr>
          <a:xfrm>
            <a:off x="731520" y="5577840"/>
            <a:ext cx="7315200" cy="365760"/>
          </a:xfrm>
          <a:prstGeom prst="rect">
            <a:avLst/>
          </a:prstGeom>
          <a:noFill/>
          <a:ln/>
        </p:spPr>
        <p:txBody>
          <a:bodyPr wrap="square" rtlCol="0" anchor="ctr"/>
          <a:lstStyle/>
          <a:p>
            <a:pPr marL="0" indent="0">
              <a:buNone/>
            </a:pPr>
            <a:r>
              <a:rPr lang="en-US" sz="1300" dirty="0">
                <a:solidFill>
                  <a:srgbClr val="B8B0D0"/>
                </a:solidFill>
                <a:latin typeface="Calibri" pitchFamily="34" charset="0"/>
                <a:ea typeface="Calibri" pitchFamily="34" charset="-122"/>
                <a:cs typeface="Calibri" pitchFamily="34" charset="-120"/>
              </a:rPr>
              <a:t>MSc Data Science  |  University of Hertfordshire  |  January 2025</a:t>
            </a:r>
            <a:endParaRPr lang="en-US" sz="1300" dirty="0"/>
          </a:p>
        </p:txBody>
      </p:sp>
      <p:sp>
        <p:nvSpPr>
          <p:cNvPr id="10" name="Shape 8"/>
          <p:cNvSpPr/>
          <p:nvPr/>
        </p:nvSpPr>
        <p:spPr>
          <a:xfrm>
            <a:off x="0" y="6784848"/>
            <a:ext cx="12161520" cy="73152"/>
          </a:xfrm>
          <a:prstGeom prst="rect">
            <a:avLst/>
          </a:prstGeom>
          <a:solidFill>
            <a:srgbClr val="6C63FF"/>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Introduction</a:t>
            </a:r>
            <a:endParaRPr lang="en-US" sz="3800" dirty="0"/>
          </a:p>
        </p:txBody>
      </p:sp>
      <p:sp>
        <p:nvSpPr>
          <p:cNvPr id="4" name="Shape 2"/>
          <p:cNvSpPr/>
          <p:nvPr/>
        </p:nvSpPr>
        <p:spPr>
          <a:xfrm>
            <a:off x="548640" y="1188720"/>
            <a:ext cx="5303520" cy="475488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Text 3"/>
          <p:cNvSpPr/>
          <p:nvPr/>
        </p:nvSpPr>
        <p:spPr>
          <a:xfrm>
            <a:off x="822960" y="1371600"/>
            <a:ext cx="4754880" cy="457200"/>
          </a:xfrm>
          <a:prstGeom prst="rect">
            <a:avLst/>
          </a:prstGeom>
          <a:noFill/>
          <a:ln/>
        </p:spPr>
        <p:txBody>
          <a:bodyPr wrap="square" rtlCol="0" anchor="ctr"/>
          <a:lstStyle/>
          <a:p>
            <a:pPr marL="0" indent="0">
              <a:buNone/>
            </a:pPr>
            <a:r>
              <a:rPr lang="en-US" sz="1700" b="1" dirty="0">
                <a:solidFill>
                  <a:srgbClr val="6C63FF"/>
                </a:solidFill>
                <a:latin typeface="Georgia" pitchFamily="34" charset="0"/>
                <a:ea typeface="Georgia" pitchFamily="34" charset="-122"/>
                <a:cs typeface="Georgia" pitchFamily="34" charset="-120"/>
              </a:rPr>
              <a:t>Research Context</a:t>
            </a:r>
            <a:endParaRPr lang="en-US" sz="1700" dirty="0"/>
          </a:p>
        </p:txBody>
      </p:sp>
      <p:sp>
        <p:nvSpPr>
          <p:cNvPr id="6" name="Text 4"/>
          <p:cNvSpPr/>
          <p:nvPr/>
        </p:nvSpPr>
        <p:spPr>
          <a:xfrm>
            <a:off x="822960" y="1920240"/>
            <a:ext cx="4754880" cy="3749040"/>
          </a:xfrm>
          <a:prstGeom prst="rect">
            <a:avLst/>
          </a:prstGeom>
          <a:noFill/>
          <a:ln/>
        </p:spPr>
        <p:txBody>
          <a:bodyPr wrap="square" rtlCol="0" anchor="t"/>
          <a:lstStyle/>
          <a:p>
            <a:pPr marL="0" indent="0">
              <a:lnSpc>
                <a:spcPct val="130000"/>
              </a:lnSpc>
              <a:spcAft>
                <a:spcPts val="1000"/>
              </a:spcAft>
              <a:buNone/>
            </a:pPr>
            <a:r>
              <a:rPr lang="en-US" sz="1300" dirty="0">
                <a:solidFill>
                  <a:srgbClr val="E6E6FA"/>
                </a:solidFill>
                <a:latin typeface="Calibri" pitchFamily="34" charset="0"/>
                <a:ea typeface="Calibri" pitchFamily="34" charset="-122"/>
                <a:cs typeface="Calibri" pitchFamily="34" charset="-120"/>
              </a:rPr>
              <a:t>Ground-based Imaging Atmospheric Cherenkov Telescopes (IACTs) detect high-energy gamma rays by capturing the faint flashes of Cherenkov light produced when these rays interact with Earth's atmosphere.</a:t>
            </a:r>
            <a:endParaRPr lang="en-US" sz="1300" dirty="0"/>
          </a:p>
          <a:p>
            <a:pPr marL="0" indent="0">
              <a:lnSpc>
                <a:spcPct val="130000"/>
              </a:lnSpc>
              <a:spcAft>
                <a:spcPts val="1000"/>
              </a:spcAft>
              <a:buNone/>
            </a:pPr>
            <a:r>
              <a:rPr lang="en-US" sz="1300" dirty="0">
                <a:solidFill>
                  <a:srgbClr val="E6E6FA"/>
                </a:solidFill>
                <a:latin typeface="Calibri" pitchFamily="34" charset="0"/>
                <a:ea typeface="Calibri" pitchFamily="34" charset="-122"/>
                <a:cs typeface="Calibri" pitchFamily="34" charset="-120"/>
              </a:rPr>
              <a:t>The central challenge is distinguishing genuine gamma-ray signals from the far more abundant hadronic cosmic-ray background, which produces visually similar shower images.</a:t>
            </a:r>
            <a:endParaRPr lang="en-US" sz="1300" dirty="0"/>
          </a:p>
          <a:p>
            <a:pPr marL="0" indent="0">
              <a:lnSpc>
                <a:spcPct val="130000"/>
              </a:lnSpc>
              <a:spcAft>
                <a:spcPts val="1000"/>
              </a:spcAft>
              <a:buNone/>
            </a:pPr>
            <a:r>
              <a:rPr lang="en-US" sz="1300" dirty="0">
                <a:solidFill>
                  <a:srgbClr val="E6E6FA"/>
                </a:solidFill>
                <a:latin typeface="Calibri" pitchFamily="34" charset="0"/>
                <a:ea typeface="Calibri" pitchFamily="34" charset="-122"/>
                <a:cs typeface="Calibri" pitchFamily="34" charset="-120"/>
              </a:rPr>
              <a:t>The MAGIC telescope system, located in the Canary Islands, is one of the world's leading instruments for this kind of very-high-energy astrophysics research.</a:t>
            </a:r>
            <a:endParaRPr lang="en-US" sz="1300" dirty="0"/>
          </a:p>
          <a:p>
            <a:pPr marL="0" indent="0">
              <a:lnSpc>
                <a:spcPct val="130000"/>
              </a:lnSpc>
              <a:buNone/>
            </a:pPr>
            <a:r>
              <a:rPr lang="en-US" sz="1300" dirty="0">
                <a:solidFill>
                  <a:srgbClr val="E6E6FA"/>
                </a:solidFill>
                <a:latin typeface="Calibri" pitchFamily="34" charset="0"/>
                <a:ea typeface="Calibri" pitchFamily="34" charset="-122"/>
                <a:cs typeface="Calibri" pitchFamily="34" charset="-120"/>
              </a:rPr>
              <a:t>This project applies machine learning to automate the classification task, potentially improving detection sensitivity beyond traditional hand-crafted parameter cuts.</a:t>
            </a:r>
            <a:endParaRPr lang="en-US" sz="1300" dirty="0"/>
          </a:p>
        </p:txBody>
      </p:sp>
      <p:sp>
        <p:nvSpPr>
          <p:cNvPr id="7" name="Shape 5"/>
          <p:cNvSpPr/>
          <p:nvPr/>
        </p:nvSpPr>
        <p:spPr>
          <a:xfrm>
            <a:off x="6309360" y="1188720"/>
            <a:ext cx="5303520" cy="475488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8" name="Text 6"/>
          <p:cNvSpPr/>
          <p:nvPr/>
        </p:nvSpPr>
        <p:spPr>
          <a:xfrm>
            <a:off x="6583680" y="1371600"/>
            <a:ext cx="4754880" cy="457200"/>
          </a:xfrm>
          <a:prstGeom prst="rect">
            <a:avLst/>
          </a:prstGeom>
          <a:noFill/>
          <a:ln/>
        </p:spPr>
        <p:txBody>
          <a:bodyPr wrap="square" rtlCol="0" anchor="ctr"/>
          <a:lstStyle/>
          <a:p>
            <a:pPr marL="0" indent="0">
              <a:buNone/>
            </a:pPr>
            <a:r>
              <a:rPr lang="en-US" sz="1700" b="1" dirty="0">
                <a:solidFill>
                  <a:srgbClr val="6C63FF"/>
                </a:solidFill>
                <a:latin typeface="Georgia" pitchFamily="34" charset="0"/>
                <a:ea typeface="Georgia" pitchFamily="34" charset="-122"/>
                <a:cs typeface="Georgia" pitchFamily="34" charset="-120"/>
              </a:rPr>
              <a:t>Objectives</a:t>
            </a:r>
            <a:endParaRPr lang="en-US" sz="1700" dirty="0"/>
          </a:p>
        </p:txBody>
      </p:sp>
      <p:sp>
        <p:nvSpPr>
          <p:cNvPr id="9" name="Text 7"/>
          <p:cNvSpPr/>
          <p:nvPr/>
        </p:nvSpPr>
        <p:spPr>
          <a:xfrm>
            <a:off x="6583680" y="1920240"/>
            <a:ext cx="4754880" cy="3749040"/>
          </a:xfrm>
          <a:prstGeom prst="rect">
            <a:avLst/>
          </a:prstGeom>
          <a:noFill/>
          <a:ln/>
        </p:spPr>
        <p:txBody>
          <a:bodyPr wrap="square" rtlCol="0" anchor="t"/>
          <a:lstStyle/>
          <a:p>
            <a:pPr marL="342900" indent="-342900">
              <a:lnSpc>
                <a:spcPct val="130000"/>
              </a:lnSpc>
              <a:spcAft>
                <a:spcPts val="1000"/>
              </a:spcAft>
              <a:buSzPct val="100000"/>
              <a:buChar char="•"/>
            </a:pPr>
            <a:r>
              <a:rPr lang="en-US" sz="1300" dirty="0">
                <a:solidFill>
                  <a:srgbClr val="E6E6FA"/>
                </a:solidFill>
                <a:latin typeface="Calibri" pitchFamily="34" charset="0"/>
                <a:ea typeface="Calibri" pitchFamily="34" charset="-122"/>
                <a:cs typeface="Calibri" pitchFamily="34" charset="-120"/>
              </a:rPr>
              <a:t>Classify telescope events as gamma-ray signals or hadronic background using supervised ML models.</a:t>
            </a:r>
            <a:endParaRPr lang="en-US" sz="1300" dirty="0"/>
          </a:p>
          <a:p>
            <a:pPr marL="342900" indent="-342900">
              <a:lnSpc>
                <a:spcPct val="130000"/>
              </a:lnSpc>
              <a:spcAft>
                <a:spcPts val="1000"/>
              </a:spcAft>
              <a:buSzPct val="100000"/>
              <a:buChar char="•"/>
            </a:pPr>
            <a:r>
              <a:rPr lang="en-US" sz="1300" dirty="0">
                <a:solidFill>
                  <a:srgbClr val="E6E6FA"/>
                </a:solidFill>
                <a:latin typeface="Calibri" pitchFamily="34" charset="0"/>
                <a:ea typeface="Calibri" pitchFamily="34" charset="-122"/>
                <a:cs typeface="Calibri" pitchFamily="34" charset="-120"/>
              </a:rPr>
              <a:t>Compare distance-based (KNN), boundary-based (SVM, Logistic Regression) classification approaches.</a:t>
            </a:r>
            <a:endParaRPr lang="en-US" sz="1300" dirty="0"/>
          </a:p>
          <a:p>
            <a:pPr marL="342900" indent="-342900">
              <a:lnSpc>
                <a:spcPct val="130000"/>
              </a:lnSpc>
              <a:spcAft>
                <a:spcPts val="1000"/>
              </a:spcAft>
              <a:buSzPct val="100000"/>
              <a:buChar char="•"/>
            </a:pPr>
            <a:r>
              <a:rPr lang="en-US" sz="1300" dirty="0">
                <a:solidFill>
                  <a:srgbClr val="E6E6FA"/>
                </a:solidFill>
                <a:latin typeface="Calibri" pitchFamily="34" charset="0"/>
                <a:ea typeface="Calibri" pitchFamily="34" charset="-122"/>
                <a:cs typeface="Calibri" pitchFamily="34" charset="-120"/>
              </a:rPr>
              <a:t>Employ Bayesian optimisation (BayesSearchCV) to systematically tune hyperparameters and improve F1-score.</a:t>
            </a:r>
            <a:endParaRPr lang="en-US" sz="1300" dirty="0"/>
          </a:p>
          <a:p>
            <a:pPr marL="342900" indent="-342900">
              <a:lnSpc>
                <a:spcPct val="130000"/>
              </a:lnSpc>
              <a:spcAft>
                <a:spcPts val="1000"/>
              </a:spcAft>
              <a:buSzPct val="100000"/>
              <a:buChar char="•"/>
            </a:pPr>
            <a:r>
              <a:rPr lang="en-US" sz="1300" dirty="0">
                <a:solidFill>
                  <a:srgbClr val="E6E6FA"/>
                </a:solidFill>
                <a:latin typeface="Calibri" pitchFamily="34" charset="0"/>
                <a:ea typeface="Calibri" pitchFamily="34" charset="-122"/>
                <a:cs typeface="Calibri" pitchFamily="34" charset="-120"/>
              </a:rPr>
              <a:t>Evaluate model robustness through 5-fold cross-validation within the tuning framework.</a:t>
            </a:r>
            <a:endParaRPr lang="en-US" sz="1300" dirty="0"/>
          </a:p>
          <a:p>
            <a:pPr marL="342900" indent="-342900">
              <a:lnSpc>
                <a:spcPct val="130000"/>
              </a:lnSpc>
              <a:buSzPct val="100000"/>
              <a:buChar char="•"/>
            </a:pPr>
            <a:r>
              <a:rPr lang="en-US" sz="1300" dirty="0">
                <a:solidFill>
                  <a:srgbClr val="E6E6FA"/>
                </a:solidFill>
                <a:latin typeface="Calibri" pitchFamily="34" charset="0"/>
                <a:ea typeface="Calibri" pitchFamily="34" charset="-122"/>
                <a:cs typeface="Calibri" pitchFamily="34" charset="-120"/>
              </a:rPr>
              <a:t>Identify the best-performing model for deployment in real-time telescope data pipelines.</a:t>
            </a:r>
            <a:endParaRPr lang="en-US" sz="1300" dirty="0"/>
          </a:p>
        </p:txBody>
      </p:sp>
      <p:sp>
        <p:nvSpPr>
          <p:cNvPr id="10" name="Text 8"/>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11" name="Text 9"/>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Previous Work</a:t>
            </a:r>
            <a:endParaRPr lang="en-US" sz="3800" dirty="0"/>
          </a:p>
        </p:txBody>
      </p:sp>
      <p:sp>
        <p:nvSpPr>
          <p:cNvPr id="4" name="Shape 2"/>
          <p:cNvSpPr/>
          <p:nvPr/>
        </p:nvSpPr>
        <p:spPr>
          <a:xfrm>
            <a:off x="548640" y="1188720"/>
            <a:ext cx="3383280" cy="475488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Shape 3"/>
          <p:cNvSpPr/>
          <p:nvPr/>
        </p:nvSpPr>
        <p:spPr>
          <a:xfrm>
            <a:off x="548640" y="1188720"/>
            <a:ext cx="3383280" cy="54864"/>
          </a:xfrm>
          <a:prstGeom prst="rect">
            <a:avLst/>
          </a:prstGeom>
          <a:solidFill>
            <a:srgbClr val="6C63FF"/>
          </a:solidFill>
          <a:ln/>
        </p:spPr>
        <p:txBody>
          <a:bodyPr/>
          <a:lstStyle/>
          <a:p>
            <a:endParaRPr lang="en-US"/>
          </a:p>
        </p:txBody>
      </p:sp>
      <p:sp>
        <p:nvSpPr>
          <p:cNvPr id="6" name="Text 4"/>
          <p:cNvSpPr/>
          <p:nvPr/>
        </p:nvSpPr>
        <p:spPr>
          <a:xfrm>
            <a:off x="777240" y="1463040"/>
            <a:ext cx="2926080" cy="54864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Traditional Approaches</a:t>
            </a:r>
            <a:endParaRPr lang="en-US" sz="1500" dirty="0"/>
          </a:p>
        </p:txBody>
      </p:sp>
      <p:sp>
        <p:nvSpPr>
          <p:cNvPr id="7" name="Text 5"/>
          <p:cNvSpPr/>
          <p:nvPr/>
        </p:nvSpPr>
        <p:spPr>
          <a:xfrm>
            <a:off x="777240" y="2103120"/>
            <a:ext cx="2926080" cy="3566160"/>
          </a:xfrm>
          <a:prstGeom prst="rect">
            <a:avLst/>
          </a:prstGeom>
          <a:noFill/>
          <a:ln/>
        </p:spPr>
        <p:txBody>
          <a:bodyPr wrap="square" rtlCol="0" anchor="t"/>
          <a:lstStyle/>
          <a:p>
            <a:pPr marL="0" indent="0">
              <a:lnSpc>
                <a:spcPct val="135000"/>
              </a:lnSpc>
              <a:buNone/>
            </a:pPr>
            <a:r>
              <a:rPr lang="en-US" sz="1250" dirty="0">
                <a:solidFill>
                  <a:srgbClr val="E6E6FA"/>
                </a:solidFill>
                <a:latin typeface="Calibri" pitchFamily="34" charset="0"/>
                <a:ea typeface="Calibri" pitchFamily="34" charset="-122"/>
                <a:cs typeface="Calibri" pitchFamily="34" charset="-120"/>
              </a:rPr>
              <a:t>Early gamma/hadron separation relied on simple parameter cuts — selecting events based on image width, length, and alpha angle. Hillas (1985) introduced these parametric descriptors, which remained standard for two decades. While interpretable, such cuts struggle with overlapping feature distributions between signal and background.</a:t>
            </a:r>
            <a:endParaRPr lang="en-US" sz="1250" dirty="0"/>
          </a:p>
        </p:txBody>
      </p:sp>
      <p:sp>
        <p:nvSpPr>
          <p:cNvPr id="8" name="Shape 6"/>
          <p:cNvSpPr/>
          <p:nvPr/>
        </p:nvSpPr>
        <p:spPr>
          <a:xfrm>
            <a:off x="4297680" y="1188720"/>
            <a:ext cx="3383280" cy="475488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9" name="Shape 7"/>
          <p:cNvSpPr/>
          <p:nvPr/>
        </p:nvSpPr>
        <p:spPr>
          <a:xfrm>
            <a:off x="4297680" y="1188720"/>
            <a:ext cx="3383280" cy="54864"/>
          </a:xfrm>
          <a:prstGeom prst="rect">
            <a:avLst/>
          </a:prstGeom>
          <a:solidFill>
            <a:srgbClr val="6C63FF"/>
          </a:solidFill>
          <a:ln/>
        </p:spPr>
        <p:txBody>
          <a:bodyPr/>
          <a:lstStyle/>
          <a:p>
            <a:endParaRPr lang="en-US"/>
          </a:p>
        </p:txBody>
      </p:sp>
      <p:sp>
        <p:nvSpPr>
          <p:cNvPr id="10" name="Text 8"/>
          <p:cNvSpPr/>
          <p:nvPr/>
        </p:nvSpPr>
        <p:spPr>
          <a:xfrm>
            <a:off x="4526280" y="1463040"/>
            <a:ext cx="2926080" cy="54864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Machine Learning in Astrophysics</a:t>
            </a:r>
            <a:endParaRPr lang="en-US" sz="1500" dirty="0"/>
          </a:p>
        </p:txBody>
      </p:sp>
      <p:sp>
        <p:nvSpPr>
          <p:cNvPr id="11" name="Text 9"/>
          <p:cNvSpPr/>
          <p:nvPr/>
        </p:nvSpPr>
        <p:spPr>
          <a:xfrm>
            <a:off x="4526280" y="2103120"/>
            <a:ext cx="2926080" cy="3566160"/>
          </a:xfrm>
          <a:prstGeom prst="rect">
            <a:avLst/>
          </a:prstGeom>
          <a:noFill/>
          <a:ln/>
        </p:spPr>
        <p:txBody>
          <a:bodyPr wrap="square" rtlCol="0" anchor="t"/>
          <a:lstStyle/>
          <a:p>
            <a:pPr marL="0" indent="0">
              <a:lnSpc>
                <a:spcPct val="135000"/>
              </a:lnSpc>
              <a:buNone/>
            </a:pPr>
            <a:r>
              <a:rPr lang="en-US" sz="1250" dirty="0">
                <a:solidFill>
                  <a:srgbClr val="E6E6FA"/>
                </a:solidFill>
                <a:latin typeface="Calibri" pitchFamily="34" charset="0"/>
                <a:ea typeface="Calibri" pitchFamily="34" charset="-122"/>
                <a:cs typeface="Calibri" pitchFamily="34" charset="-120"/>
              </a:rPr>
              <a:t>Random Forests were first applied to MAGIC data by Albert et al. (2008), showing significant improvement over parametric methods. Bock et al. (2004) demonstrated that neural networks could enhance sensitivity by 20-40%. More recently, ensemble methods and gradient boosting have become popular in the high-energy physics community for particle classification tasks.</a:t>
            </a:r>
            <a:endParaRPr lang="en-US" sz="1250" dirty="0"/>
          </a:p>
        </p:txBody>
      </p:sp>
      <p:sp>
        <p:nvSpPr>
          <p:cNvPr id="12" name="Shape 10"/>
          <p:cNvSpPr/>
          <p:nvPr/>
        </p:nvSpPr>
        <p:spPr>
          <a:xfrm>
            <a:off x="8046720" y="1188720"/>
            <a:ext cx="3383280" cy="475488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3" name="Shape 11"/>
          <p:cNvSpPr/>
          <p:nvPr/>
        </p:nvSpPr>
        <p:spPr>
          <a:xfrm>
            <a:off x="8046720" y="1188720"/>
            <a:ext cx="3383280" cy="54864"/>
          </a:xfrm>
          <a:prstGeom prst="rect">
            <a:avLst/>
          </a:prstGeom>
          <a:solidFill>
            <a:srgbClr val="6C63FF"/>
          </a:solidFill>
          <a:ln/>
        </p:spPr>
        <p:txBody>
          <a:bodyPr/>
          <a:lstStyle/>
          <a:p>
            <a:endParaRPr lang="en-US"/>
          </a:p>
        </p:txBody>
      </p:sp>
      <p:sp>
        <p:nvSpPr>
          <p:cNvPr id="14" name="Text 12"/>
          <p:cNvSpPr/>
          <p:nvPr/>
        </p:nvSpPr>
        <p:spPr>
          <a:xfrm>
            <a:off x="8275320" y="1463040"/>
            <a:ext cx="2926080" cy="54864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Bayesian Optimisation</a:t>
            </a:r>
            <a:endParaRPr lang="en-US" sz="1500" dirty="0"/>
          </a:p>
        </p:txBody>
      </p:sp>
      <p:sp>
        <p:nvSpPr>
          <p:cNvPr id="15" name="Text 13"/>
          <p:cNvSpPr/>
          <p:nvPr/>
        </p:nvSpPr>
        <p:spPr>
          <a:xfrm>
            <a:off x="8275320" y="2103120"/>
            <a:ext cx="2926080" cy="3566160"/>
          </a:xfrm>
          <a:prstGeom prst="rect">
            <a:avLst/>
          </a:prstGeom>
          <a:noFill/>
          <a:ln/>
        </p:spPr>
        <p:txBody>
          <a:bodyPr wrap="square" rtlCol="0" anchor="t"/>
          <a:lstStyle/>
          <a:p>
            <a:pPr marL="0" indent="0">
              <a:lnSpc>
                <a:spcPct val="135000"/>
              </a:lnSpc>
              <a:buNone/>
            </a:pPr>
            <a:r>
              <a:rPr lang="en-US" sz="1250" dirty="0">
                <a:solidFill>
                  <a:srgbClr val="E6E6FA"/>
                </a:solidFill>
                <a:latin typeface="Calibri" pitchFamily="34" charset="0"/>
                <a:ea typeface="Calibri" pitchFamily="34" charset="-122"/>
                <a:cs typeface="Calibri" pitchFamily="34" charset="-120"/>
              </a:rPr>
              <a:t>Traditional grid search scales poorly with dimensionality. Bayesian optimisation with Gaussian processes provides a principled, sample-efficient approach to hyperparameter tuning (Snoek et al., 2012). BayesSearchCV from scikit-optimize combines this with cross-validation, making it well-suited for computationally expensive models like SVM on medium-sized datasets.</a:t>
            </a:r>
            <a:endParaRPr lang="en-US" sz="1250" dirty="0"/>
          </a:p>
        </p:txBody>
      </p:sp>
      <p:sp>
        <p:nvSpPr>
          <p:cNvPr id="16" name="Text 14"/>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17" name="Text 15"/>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Approach &amp; Novelty</a:t>
            </a:r>
            <a:endParaRPr lang="en-US" sz="3800" dirty="0"/>
          </a:p>
        </p:txBody>
      </p:sp>
      <p:sp>
        <p:nvSpPr>
          <p:cNvPr id="4" name="Shape 2"/>
          <p:cNvSpPr/>
          <p:nvPr/>
        </p:nvSpPr>
        <p:spPr>
          <a:xfrm>
            <a:off x="548640" y="118872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Shape 3"/>
          <p:cNvSpPr/>
          <p:nvPr/>
        </p:nvSpPr>
        <p:spPr>
          <a:xfrm>
            <a:off x="731520" y="1371600"/>
            <a:ext cx="548640" cy="548640"/>
          </a:xfrm>
          <a:prstGeom prst="ellipse">
            <a:avLst/>
          </a:prstGeom>
          <a:solidFill>
            <a:srgbClr val="6C63FF"/>
          </a:solidFill>
          <a:ln/>
        </p:spPr>
        <p:txBody>
          <a:bodyPr/>
          <a:lstStyle/>
          <a:p>
            <a:endParaRPr lang="en-US"/>
          </a:p>
        </p:txBody>
      </p:sp>
      <p:sp>
        <p:nvSpPr>
          <p:cNvPr id="6" name="Text 4"/>
          <p:cNvSpPr/>
          <p:nvPr/>
        </p:nvSpPr>
        <p:spPr>
          <a:xfrm>
            <a:off x="731520" y="137160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7" name="Text 5"/>
          <p:cNvSpPr/>
          <p:nvPr/>
        </p:nvSpPr>
        <p:spPr>
          <a:xfrm>
            <a:off x="1463040" y="141732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Data Loading</a:t>
            </a:r>
            <a:endParaRPr lang="en-US" sz="1500" dirty="0"/>
          </a:p>
        </p:txBody>
      </p:sp>
      <p:sp>
        <p:nvSpPr>
          <p:cNvPr id="8" name="Text 6"/>
          <p:cNvSpPr/>
          <p:nvPr/>
        </p:nvSpPr>
        <p:spPr>
          <a:xfrm>
            <a:off x="777240" y="201168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Import the MAGIC Gamma Telescope dataset containing 19,020 Cherenkov image parameter records with 10 continuous features.</a:t>
            </a:r>
            <a:endParaRPr lang="en-US" sz="1200" dirty="0"/>
          </a:p>
        </p:txBody>
      </p:sp>
      <p:sp>
        <p:nvSpPr>
          <p:cNvPr id="9" name="Shape 7"/>
          <p:cNvSpPr/>
          <p:nvPr/>
        </p:nvSpPr>
        <p:spPr>
          <a:xfrm>
            <a:off x="4297680" y="118872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0" name="Shape 8"/>
          <p:cNvSpPr/>
          <p:nvPr/>
        </p:nvSpPr>
        <p:spPr>
          <a:xfrm>
            <a:off x="4480560" y="1371600"/>
            <a:ext cx="548640" cy="548640"/>
          </a:xfrm>
          <a:prstGeom prst="ellipse">
            <a:avLst/>
          </a:prstGeom>
          <a:solidFill>
            <a:srgbClr val="6C63FF"/>
          </a:solidFill>
          <a:ln/>
        </p:spPr>
        <p:txBody>
          <a:bodyPr/>
          <a:lstStyle/>
          <a:p>
            <a:endParaRPr lang="en-US"/>
          </a:p>
        </p:txBody>
      </p:sp>
      <p:sp>
        <p:nvSpPr>
          <p:cNvPr id="11" name="Text 9"/>
          <p:cNvSpPr/>
          <p:nvPr/>
        </p:nvSpPr>
        <p:spPr>
          <a:xfrm>
            <a:off x="4480560" y="137160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2" name="Text 10"/>
          <p:cNvSpPr/>
          <p:nvPr/>
        </p:nvSpPr>
        <p:spPr>
          <a:xfrm>
            <a:off x="5212080" y="141732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Exploration</a:t>
            </a:r>
            <a:endParaRPr lang="en-US" sz="1500" dirty="0"/>
          </a:p>
        </p:txBody>
      </p:sp>
      <p:sp>
        <p:nvSpPr>
          <p:cNvPr id="13" name="Text 11"/>
          <p:cNvSpPr/>
          <p:nvPr/>
        </p:nvSpPr>
        <p:spPr>
          <a:xfrm>
            <a:off x="4526280" y="201168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Examine class imbalance (65% gamma vs 35% hadron), feature distributions, KDE separation plots, and correlation structure.</a:t>
            </a:r>
            <a:endParaRPr lang="en-US" sz="1200" dirty="0"/>
          </a:p>
        </p:txBody>
      </p:sp>
      <p:sp>
        <p:nvSpPr>
          <p:cNvPr id="14" name="Shape 12"/>
          <p:cNvSpPr/>
          <p:nvPr/>
        </p:nvSpPr>
        <p:spPr>
          <a:xfrm>
            <a:off x="8046720" y="118872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5" name="Shape 13"/>
          <p:cNvSpPr/>
          <p:nvPr/>
        </p:nvSpPr>
        <p:spPr>
          <a:xfrm>
            <a:off x="8229600" y="1371600"/>
            <a:ext cx="548640" cy="548640"/>
          </a:xfrm>
          <a:prstGeom prst="ellipse">
            <a:avLst/>
          </a:prstGeom>
          <a:solidFill>
            <a:srgbClr val="6C63FF"/>
          </a:solidFill>
          <a:ln/>
        </p:spPr>
        <p:txBody>
          <a:bodyPr/>
          <a:lstStyle/>
          <a:p>
            <a:endParaRPr lang="en-US"/>
          </a:p>
        </p:txBody>
      </p:sp>
      <p:sp>
        <p:nvSpPr>
          <p:cNvPr id="16" name="Text 14"/>
          <p:cNvSpPr/>
          <p:nvPr/>
        </p:nvSpPr>
        <p:spPr>
          <a:xfrm>
            <a:off x="8229600" y="137160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7" name="Text 15"/>
          <p:cNvSpPr/>
          <p:nvPr/>
        </p:nvSpPr>
        <p:spPr>
          <a:xfrm>
            <a:off x="8961120" y="141732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Preprocessing</a:t>
            </a:r>
            <a:endParaRPr lang="en-US" sz="1500" dirty="0"/>
          </a:p>
        </p:txBody>
      </p:sp>
      <p:sp>
        <p:nvSpPr>
          <p:cNvPr id="18" name="Text 16"/>
          <p:cNvSpPr/>
          <p:nvPr/>
        </p:nvSpPr>
        <p:spPr>
          <a:xfrm>
            <a:off x="8275320" y="201168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Encode class labels, apply StandardScaler normalisation, and split data 80/20 for training and testing.</a:t>
            </a:r>
            <a:endParaRPr lang="en-US" sz="1200" dirty="0"/>
          </a:p>
        </p:txBody>
      </p:sp>
      <p:sp>
        <p:nvSpPr>
          <p:cNvPr id="19" name="Shape 17"/>
          <p:cNvSpPr/>
          <p:nvPr/>
        </p:nvSpPr>
        <p:spPr>
          <a:xfrm>
            <a:off x="548640" y="374904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20" name="Shape 18"/>
          <p:cNvSpPr/>
          <p:nvPr/>
        </p:nvSpPr>
        <p:spPr>
          <a:xfrm>
            <a:off x="731520" y="3931920"/>
            <a:ext cx="548640" cy="548640"/>
          </a:xfrm>
          <a:prstGeom prst="ellipse">
            <a:avLst/>
          </a:prstGeom>
          <a:solidFill>
            <a:srgbClr val="6C63FF"/>
          </a:solidFill>
          <a:ln/>
        </p:spPr>
        <p:txBody>
          <a:bodyPr/>
          <a:lstStyle/>
          <a:p>
            <a:endParaRPr lang="en-US"/>
          </a:p>
        </p:txBody>
      </p:sp>
      <p:sp>
        <p:nvSpPr>
          <p:cNvPr id="21" name="Text 19"/>
          <p:cNvSpPr/>
          <p:nvPr/>
        </p:nvSpPr>
        <p:spPr>
          <a:xfrm>
            <a:off x="731520" y="393192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2" name="Text 20"/>
          <p:cNvSpPr/>
          <p:nvPr/>
        </p:nvSpPr>
        <p:spPr>
          <a:xfrm>
            <a:off x="1463040" y="397764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Baseline Models</a:t>
            </a:r>
            <a:endParaRPr lang="en-US" sz="1500" dirty="0"/>
          </a:p>
        </p:txBody>
      </p:sp>
      <p:sp>
        <p:nvSpPr>
          <p:cNvPr id="23" name="Text 21"/>
          <p:cNvSpPr/>
          <p:nvPr/>
        </p:nvSpPr>
        <p:spPr>
          <a:xfrm>
            <a:off x="777240" y="457200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Train KNN, Logistic Regression, and SVM with default parameters to establish performance benchmarks.</a:t>
            </a:r>
            <a:endParaRPr lang="en-US" sz="1200" dirty="0"/>
          </a:p>
        </p:txBody>
      </p:sp>
      <p:sp>
        <p:nvSpPr>
          <p:cNvPr id="24" name="Shape 22"/>
          <p:cNvSpPr/>
          <p:nvPr/>
        </p:nvSpPr>
        <p:spPr>
          <a:xfrm>
            <a:off x="4297680" y="374904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25" name="Shape 23"/>
          <p:cNvSpPr/>
          <p:nvPr/>
        </p:nvSpPr>
        <p:spPr>
          <a:xfrm>
            <a:off x="4480560" y="3931920"/>
            <a:ext cx="548640" cy="548640"/>
          </a:xfrm>
          <a:prstGeom prst="ellipse">
            <a:avLst/>
          </a:prstGeom>
          <a:solidFill>
            <a:srgbClr val="6C63FF"/>
          </a:solidFill>
          <a:ln/>
        </p:spPr>
        <p:txBody>
          <a:bodyPr/>
          <a:lstStyle/>
          <a:p>
            <a:endParaRPr lang="en-US"/>
          </a:p>
        </p:txBody>
      </p:sp>
      <p:sp>
        <p:nvSpPr>
          <p:cNvPr id="26" name="Text 24"/>
          <p:cNvSpPr/>
          <p:nvPr/>
        </p:nvSpPr>
        <p:spPr>
          <a:xfrm>
            <a:off x="4480560" y="393192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7" name="Text 25"/>
          <p:cNvSpPr/>
          <p:nvPr/>
        </p:nvSpPr>
        <p:spPr>
          <a:xfrm>
            <a:off x="5212080" y="397764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Bayesian Tuning</a:t>
            </a:r>
            <a:endParaRPr lang="en-US" sz="1500" dirty="0"/>
          </a:p>
        </p:txBody>
      </p:sp>
      <p:sp>
        <p:nvSpPr>
          <p:cNvPr id="28" name="Text 26"/>
          <p:cNvSpPr/>
          <p:nvPr/>
        </p:nvSpPr>
        <p:spPr>
          <a:xfrm>
            <a:off x="4526280" y="457200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Use BayesSearchCV with 25 iterations and 5-fold CV to optimise each model's hyperparameters on F1-score.</a:t>
            </a:r>
            <a:endParaRPr lang="en-US" sz="1200" dirty="0"/>
          </a:p>
        </p:txBody>
      </p:sp>
      <p:sp>
        <p:nvSpPr>
          <p:cNvPr id="29" name="Shape 27"/>
          <p:cNvSpPr/>
          <p:nvPr/>
        </p:nvSpPr>
        <p:spPr>
          <a:xfrm>
            <a:off x="8046720" y="3749040"/>
            <a:ext cx="3383280" cy="21945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30" name="Shape 28"/>
          <p:cNvSpPr/>
          <p:nvPr/>
        </p:nvSpPr>
        <p:spPr>
          <a:xfrm>
            <a:off x="8229600" y="3931920"/>
            <a:ext cx="548640" cy="548640"/>
          </a:xfrm>
          <a:prstGeom prst="ellipse">
            <a:avLst/>
          </a:prstGeom>
          <a:solidFill>
            <a:srgbClr val="6C63FF"/>
          </a:solidFill>
          <a:ln/>
        </p:spPr>
        <p:txBody>
          <a:bodyPr/>
          <a:lstStyle/>
          <a:p>
            <a:endParaRPr lang="en-US"/>
          </a:p>
        </p:txBody>
      </p:sp>
      <p:sp>
        <p:nvSpPr>
          <p:cNvPr id="31" name="Text 29"/>
          <p:cNvSpPr/>
          <p:nvPr/>
        </p:nvSpPr>
        <p:spPr>
          <a:xfrm>
            <a:off x="8229600" y="3931920"/>
            <a:ext cx="548640" cy="5486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32" name="Text 30"/>
          <p:cNvSpPr/>
          <p:nvPr/>
        </p:nvSpPr>
        <p:spPr>
          <a:xfrm>
            <a:off x="8961120" y="3977640"/>
            <a:ext cx="228600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Evaluation</a:t>
            </a:r>
            <a:endParaRPr lang="en-US" sz="1500" dirty="0"/>
          </a:p>
        </p:txBody>
      </p:sp>
      <p:sp>
        <p:nvSpPr>
          <p:cNvPr id="33" name="Text 31"/>
          <p:cNvSpPr/>
          <p:nvPr/>
        </p:nvSpPr>
        <p:spPr>
          <a:xfrm>
            <a:off x="8275320" y="4572000"/>
            <a:ext cx="292608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Compare optimised models on accuracy, precision, recall, and F1. Identify SVM as the best classifier.</a:t>
            </a:r>
            <a:endParaRPr lang="en-US" sz="1200" dirty="0"/>
          </a:p>
        </p:txBody>
      </p:sp>
      <p:sp>
        <p:nvSpPr>
          <p:cNvPr id="34" name="Text 32"/>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35" name="Text 33"/>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Dataset Overview</a:t>
            </a:r>
            <a:endParaRPr lang="en-US" sz="3800" dirty="0"/>
          </a:p>
        </p:txBody>
      </p:sp>
      <p:sp>
        <p:nvSpPr>
          <p:cNvPr id="4" name="Shape 2"/>
          <p:cNvSpPr/>
          <p:nvPr/>
        </p:nvSpPr>
        <p:spPr>
          <a:xfrm>
            <a:off x="548640" y="1143000"/>
            <a:ext cx="2468880" cy="11887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Text 3"/>
          <p:cNvSpPr/>
          <p:nvPr/>
        </p:nvSpPr>
        <p:spPr>
          <a:xfrm>
            <a:off x="548640" y="1188720"/>
            <a:ext cx="2468880" cy="685800"/>
          </a:xfrm>
          <a:prstGeom prst="rect">
            <a:avLst/>
          </a:prstGeom>
          <a:noFill/>
          <a:ln/>
        </p:spPr>
        <p:txBody>
          <a:bodyPr wrap="square" rtlCol="0" anchor="ctr"/>
          <a:lstStyle/>
          <a:p>
            <a:pPr marL="0" indent="0" algn="ctr">
              <a:buNone/>
            </a:pPr>
            <a:r>
              <a:rPr lang="en-US" sz="3200" b="1" dirty="0">
                <a:solidFill>
                  <a:srgbClr val="6C63FF"/>
                </a:solidFill>
                <a:latin typeface="Georgia" pitchFamily="34" charset="0"/>
                <a:ea typeface="Georgia" pitchFamily="34" charset="-122"/>
                <a:cs typeface="Georgia" pitchFamily="34" charset="-120"/>
              </a:rPr>
              <a:t>19,020</a:t>
            </a:r>
            <a:endParaRPr lang="en-US" sz="3200" dirty="0"/>
          </a:p>
        </p:txBody>
      </p:sp>
      <p:sp>
        <p:nvSpPr>
          <p:cNvPr id="6" name="Text 4"/>
          <p:cNvSpPr/>
          <p:nvPr/>
        </p:nvSpPr>
        <p:spPr>
          <a:xfrm>
            <a:off x="548640" y="1874520"/>
            <a:ext cx="2468880" cy="365760"/>
          </a:xfrm>
          <a:prstGeom prst="rect">
            <a:avLst/>
          </a:prstGeom>
          <a:noFill/>
          <a:ln/>
        </p:spPr>
        <p:txBody>
          <a:bodyPr wrap="square" rtlCol="0" anchor="ctr"/>
          <a:lstStyle/>
          <a:p>
            <a:pPr marL="0" indent="0" algn="ctr">
              <a:buNone/>
            </a:pPr>
            <a:r>
              <a:rPr lang="en-US" sz="1200" dirty="0">
                <a:solidFill>
                  <a:srgbClr val="B8B0D0"/>
                </a:solidFill>
                <a:latin typeface="Calibri" pitchFamily="34" charset="0"/>
                <a:ea typeface="Calibri" pitchFamily="34" charset="-122"/>
                <a:cs typeface="Calibri" pitchFamily="34" charset="-120"/>
              </a:rPr>
              <a:t>Total Records</a:t>
            </a:r>
            <a:endParaRPr lang="en-US" sz="1200" dirty="0"/>
          </a:p>
        </p:txBody>
      </p:sp>
      <p:sp>
        <p:nvSpPr>
          <p:cNvPr id="7" name="Shape 5"/>
          <p:cNvSpPr/>
          <p:nvPr/>
        </p:nvSpPr>
        <p:spPr>
          <a:xfrm>
            <a:off x="3383280" y="1143000"/>
            <a:ext cx="2468880" cy="11887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8" name="Text 6"/>
          <p:cNvSpPr/>
          <p:nvPr/>
        </p:nvSpPr>
        <p:spPr>
          <a:xfrm>
            <a:off x="3383280" y="1188720"/>
            <a:ext cx="2468880" cy="685800"/>
          </a:xfrm>
          <a:prstGeom prst="rect">
            <a:avLst/>
          </a:prstGeom>
          <a:noFill/>
          <a:ln/>
        </p:spPr>
        <p:txBody>
          <a:bodyPr wrap="square" rtlCol="0" anchor="ctr"/>
          <a:lstStyle/>
          <a:p>
            <a:pPr marL="0" indent="0" algn="ctr">
              <a:buNone/>
            </a:pPr>
            <a:r>
              <a:rPr lang="en-US" sz="3200" b="1" dirty="0">
                <a:solidFill>
                  <a:srgbClr val="6C63FF"/>
                </a:solidFill>
                <a:latin typeface="Georgia" pitchFamily="34" charset="0"/>
                <a:ea typeface="Georgia" pitchFamily="34" charset="-122"/>
                <a:cs typeface="Georgia" pitchFamily="34" charset="-120"/>
              </a:rPr>
              <a:t>10</a:t>
            </a:r>
            <a:endParaRPr lang="en-US" sz="3200" dirty="0"/>
          </a:p>
        </p:txBody>
      </p:sp>
      <p:sp>
        <p:nvSpPr>
          <p:cNvPr id="9" name="Text 7"/>
          <p:cNvSpPr/>
          <p:nvPr/>
        </p:nvSpPr>
        <p:spPr>
          <a:xfrm>
            <a:off x="3383280" y="1874520"/>
            <a:ext cx="2468880" cy="365760"/>
          </a:xfrm>
          <a:prstGeom prst="rect">
            <a:avLst/>
          </a:prstGeom>
          <a:noFill/>
          <a:ln/>
        </p:spPr>
        <p:txBody>
          <a:bodyPr wrap="square" rtlCol="0" anchor="ctr"/>
          <a:lstStyle/>
          <a:p>
            <a:pPr marL="0" indent="0" algn="ctr">
              <a:buNone/>
            </a:pPr>
            <a:r>
              <a:rPr lang="en-US" sz="1200" dirty="0">
                <a:solidFill>
                  <a:srgbClr val="B8B0D0"/>
                </a:solidFill>
                <a:latin typeface="Calibri" pitchFamily="34" charset="0"/>
                <a:ea typeface="Calibri" pitchFamily="34" charset="-122"/>
                <a:cs typeface="Calibri" pitchFamily="34" charset="-120"/>
              </a:rPr>
              <a:t>Input Features</a:t>
            </a:r>
            <a:endParaRPr lang="en-US" sz="1200" dirty="0"/>
          </a:p>
        </p:txBody>
      </p:sp>
      <p:sp>
        <p:nvSpPr>
          <p:cNvPr id="10" name="Shape 8"/>
          <p:cNvSpPr/>
          <p:nvPr/>
        </p:nvSpPr>
        <p:spPr>
          <a:xfrm>
            <a:off x="6217920" y="1143000"/>
            <a:ext cx="2468880" cy="11887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1" name="Text 9"/>
          <p:cNvSpPr/>
          <p:nvPr/>
        </p:nvSpPr>
        <p:spPr>
          <a:xfrm>
            <a:off x="6217920" y="1188720"/>
            <a:ext cx="2468880" cy="685800"/>
          </a:xfrm>
          <a:prstGeom prst="rect">
            <a:avLst/>
          </a:prstGeom>
          <a:noFill/>
          <a:ln/>
        </p:spPr>
        <p:txBody>
          <a:bodyPr wrap="square" rtlCol="0" anchor="ctr"/>
          <a:lstStyle/>
          <a:p>
            <a:pPr marL="0" indent="0" algn="ctr">
              <a:buNone/>
            </a:pPr>
            <a:r>
              <a:rPr lang="en-US" sz="3200" b="1" dirty="0">
                <a:solidFill>
                  <a:srgbClr val="6C63FF"/>
                </a:solidFill>
                <a:latin typeface="Georgia" pitchFamily="34" charset="0"/>
                <a:ea typeface="Georgia" pitchFamily="34" charset="-122"/>
                <a:cs typeface="Georgia" pitchFamily="34" charset="-120"/>
              </a:rPr>
              <a:t>2</a:t>
            </a:r>
            <a:endParaRPr lang="en-US" sz="3200" dirty="0"/>
          </a:p>
        </p:txBody>
      </p:sp>
      <p:sp>
        <p:nvSpPr>
          <p:cNvPr id="12" name="Text 10"/>
          <p:cNvSpPr/>
          <p:nvPr/>
        </p:nvSpPr>
        <p:spPr>
          <a:xfrm>
            <a:off x="6217920" y="1874520"/>
            <a:ext cx="2468880" cy="365760"/>
          </a:xfrm>
          <a:prstGeom prst="rect">
            <a:avLst/>
          </a:prstGeom>
          <a:noFill/>
          <a:ln/>
        </p:spPr>
        <p:txBody>
          <a:bodyPr wrap="square" rtlCol="0" anchor="ctr"/>
          <a:lstStyle/>
          <a:p>
            <a:pPr marL="0" indent="0" algn="ctr">
              <a:buNone/>
            </a:pPr>
            <a:r>
              <a:rPr lang="en-US" sz="1200" dirty="0">
                <a:solidFill>
                  <a:srgbClr val="B8B0D0"/>
                </a:solidFill>
                <a:latin typeface="Calibri" pitchFamily="34" charset="0"/>
                <a:ea typeface="Calibri" pitchFamily="34" charset="-122"/>
                <a:cs typeface="Calibri" pitchFamily="34" charset="-120"/>
              </a:rPr>
              <a:t>Classes</a:t>
            </a:r>
            <a:endParaRPr lang="en-US" sz="1200" dirty="0"/>
          </a:p>
        </p:txBody>
      </p:sp>
      <p:sp>
        <p:nvSpPr>
          <p:cNvPr id="13" name="Shape 11"/>
          <p:cNvSpPr/>
          <p:nvPr/>
        </p:nvSpPr>
        <p:spPr>
          <a:xfrm>
            <a:off x="9052560" y="1143000"/>
            <a:ext cx="2468880" cy="11887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4" name="Text 12"/>
          <p:cNvSpPr/>
          <p:nvPr/>
        </p:nvSpPr>
        <p:spPr>
          <a:xfrm>
            <a:off x="9052560" y="1188720"/>
            <a:ext cx="2468880" cy="685800"/>
          </a:xfrm>
          <a:prstGeom prst="rect">
            <a:avLst/>
          </a:prstGeom>
          <a:noFill/>
          <a:ln/>
        </p:spPr>
        <p:txBody>
          <a:bodyPr wrap="square" rtlCol="0" anchor="ctr"/>
          <a:lstStyle/>
          <a:p>
            <a:pPr marL="0" indent="0" algn="ctr">
              <a:buNone/>
            </a:pPr>
            <a:r>
              <a:rPr lang="en-US" sz="3200" b="1" dirty="0">
                <a:solidFill>
                  <a:srgbClr val="6C63FF"/>
                </a:solidFill>
                <a:latin typeface="Georgia" pitchFamily="34" charset="0"/>
                <a:ea typeface="Georgia" pitchFamily="34" charset="-122"/>
                <a:cs typeface="Georgia" pitchFamily="34" charset="-120"/>
              </a:rPr>
              <a:t>0%</a:t>
            </a:r>
            <a:endParaRPr lang="en-US" sz="3200" dirty="0"/>
          </a:p>
        </p:txBody>
      </p:sp>
      <p:sp>
        <p:nvSpPr>
          <p:cNvPr id="15" name="Text 13"/>
          <p:cNvSpPr/>
          <p:nvPr/>
        </p:nvSpPr>
        <p:spPr>
          <a:xfrm>
            <a:off x="9052560" y="1874520"/>
            <a:ext cx="2468880" cy="365760"/>
          </a:xfrm>
          <a:prstGeom prst="rect">
            <a:avLst/>
          </a:prstGeom>
          <a:noFill/>
          <a:ln/>
        </p:spPr>
        <p:txBody>
          <a:bodyPr wrap="square" rtlCol="0" anchor="ctr"/>
          <a:lstStyle/>
          <a:p>
            <a:pPr marL="0" indent="0" algn="ctr">
              <a:buNone/>
            </a:pPr>
            <a:r>
              <a:rPr lang="en-US" sz="1200" dirty="0">
                <a:solidFill>
                  <a:srgbClr val="B8B0D0"/>
                </a:solidFill>
                <a:latin typeface="Calibri" pitchFamily="34" charset="0"/>
                <a:ea typeface="Calibri" pitchFamily="34" charset="-122"/>
                <a:cs typeface="Calibri" pitchFamily="34" charset="-120"/>
              </a:rPr>
              <a:t>Missing Values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64240" cy="347472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589520">
                  <a:extLst>
                    <a:ext uri="{9D8B030D-6E8A-4147-A177-3AD203B41FA5}">
                      <a16:colId xmlns:a16="http://schemas.microsoft.com/office/drawing/2014/main" val="20002"/>
                    </a:ext>
                  </a:extLst>
                </a:gridCol>
              </a:tblGrid>
              <a:tr h="347472">
                <a:tc>
                  <a:txBody>
                    <a:bodyPr/>
                    <a:lstStyle/>
                    <a:p>
                      <a:pPr marL="0" indent="0" algn="ctr">
                        <a:buNone/>
                      </a:pPr>
                      <a:r>
                        <a:rPr lang="en-US" sz="1100" b="1" dirty="0">
                          <a:solidFill>
                            <a:srgbClr val="FFFFFF"/>
                          </a:solidFill>
                          <a:latin typeface="Georgia" pitchFamily="34" charset="0"/>
                          <a:ea typeface="Georgia" pitchFamily="34" charset="-122"/>
                          <a:cs typeface="Georgia" pitchFamily="34" charset="-120"/>
                        </a:rPr>
                        <a:t>Feature</a:t>
                      </a:r>
                      <a:endParaRPr lang="en-US" sz="11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100" b="1" dirty="0">
                          <a:solidFill>
                            <a:srgbClr val="FFFFFF"/>
                          </a:solidFill>
                          <a:latin typeface="Georgia" pitchFamily="34" charset="0"/>
                          <a:ea typeface="Georgia" pitchFamily="34" charset="-122"/>
                          <a:cs typeface="Georgia" pitchFamily="34" charset="-120"/>
                        </a:rPr>
                        <a:t>Type</a:t>
                      </a:r>
                      <a:endParaRPr lang="en-US" sz="11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100" b="1" dirty="0">
                          <a:solidFill>
                            <a:srgbClr val="FFFFFF"/>
                          </a:solidFill>
                          <a:latin typeface="Georgia" pitchFamily="34" charset="0"/>
                          <a:ea typeface="Georgia" pitchFamily="34" charset="-122"/>
                          <a:cs typeface="Georgia" pitchFamily="34" charset="-120"/>
                        </a:rPr>
                        <a:t>Description</a:t>
                      </a:r>
                      <a:endParaRPr lang="en-US" sz="11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fLength</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Major axis of the ellipse (mm)</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fWidth</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Minor axis of the ellipse (mm)</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fSize</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Logarithm of the sum of content of all pixels</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3"/>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fConc / fConc1</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Ratio of highest 2 / 1 pixel(s) to fSize</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4"/>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fAsym</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Distance from highest pixel to centre</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5"/>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fM3Long / fM3Trans</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3rd-root of 3rd moment along major / minor axis</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6"/>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fAlpha</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Angle of major axis with vector to centre (deg)</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7"/>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fDist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Float</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Distance from image centre to origin (mm)</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8"/>
                  </a:ext>
                </a:extLst>
              </a:tr>
              <a:tr h="347472">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100" dirty="0">
                          <a:solidFill>
                            <a:srgbClr val="E6E6FA"/>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buNone/>
                      </a:pPr>
                      <a:r>
                        <a:rPr lang="en-US" sz="1100" dirty="0">
                          <a:solidFill>
                            <a:srgbClr val="E6E6FA"/>
                          </a:solidFill>
                          <a:latin typeface="Calibri" pitchFamily="34" charset="0"/>
                          <a:ea typeface="Calibri" pitchFamily="34" charset="-122"/>
                          <a:cs typeface="Calibri" pitchFamily="34" charset="-120"/>
                        </a:rPr>
                        <a:t>g = gamma (signal), h = hadron (background)</a:t>
                      </a:r>
                      <a:endParaRPr lang="en-US" sz="11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9"/>
                  </a:ext>
                </a:extLst>
              </a:tr>
            </a:tbl>
          </a:graphicData>
        </a:graphic>
      </p:graphicFrame>
      <p:sp>
        <p:nvSpPr>
          <p:cNvPr id="17" name="Text 14"/>
          <p:cNvSpPr/>
          <p:nvPr/>
        </p:nvSpPr>
        <p:spPr>
          <a:xfrm>
            <a:off x="548640" y="6126480"/>
            <a:ext cx="9144000" cy="274320"/>
          </a:xfrm>
          <a:prstGeom prst="rect">
            <a:avLst/>
          </a:prstGeom>
          <a:noFill/>
          <a:ln/>
        </p:spPr>
        <p:txBody>
          <a:bodyPr wrap="square" rtlCol="0" anchor="ctr"/>
          <a:lstStyle/>
          <a:p>
            <a:pPr marL="0" indent="0">
              <a:buNone/>
            </a:pPr>
            <a:r>
              <a:rPr lang="en-US" sz="1000" i="1" dirty="0">
                <a:solidFill>
                  <a:srgbClr val="B8B0D0"/>
                </a:solidFill>
                <a:latin typeface="Calibri" pitchFamily="34" charset="0"/>
                <a:ea typeface="Calibri" pitchFamily="34" charset="-122"/>
                <a:cs typeface="Calibri" pitchFamily="34" charset="-120"/>
              </a:rPr>
              <a:t>Source: UCI Machine Learning Repository — MAGIC Gamma Telescope Dataset</a:t>
            </a:r>
            <a:endParaRPr lang="en-US" sz="1000" dirty="0"/>
          </a:p>
        </p:txBody>
      </p:sp>
      <p:sp>
        <p:nvSpPr>
          <p:cNvPr id="18" name="Text 15"/>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19" name="Text 16"/>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Ethical Implications</a:t>
            </a:r>
            <a:endParaRPr lang="en-US" sz="3800" dirty="0"/>
          </a:p>
        </p:txBody>
      </p:sp>
      <p:sp>
        <p:nvSpPr>
          <p:cNvPr id="4" name="Shape 2"/>
          <p:cNvSpPr/>
          <p:nvPr/>
        </p:nvSpPr>
        <p:spPr>
          <a:xfrm>
            <a:off x="548640" y="118872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Shape 3"/>
          <p:cNvSpPr/>
          <p:nvPr/>
        </p:nvSpPr>
        <p:spPr>
          <a:xfrm>
            <a:off x="548640" y="1188720"/>
            <a:ext cx="73152" cy="2103120"/>
          </a:xfrm>
          <a:prstGeom prst="rect">
            <a:avLst/>
          </a:prstGeom>
          <a:solidFill>
            <a:srgbClr val="6C63FF"/>
          </a:solidFill>
          <a:ln/>
        </p:spPr>
        <p:txBody>
          <a:bodyPr/>
          <a:lstStyle/>
          <a:p>
            <a:endParaRPr lang="en-US"/>
          </a:p>
        </p:txBody>
      </p:sp>
      <p:sp>
        <p:nvSpPr>
          <p:cNvPr id="6" name="Text 4"/>
          <p:cNvSpPr/>
          <p:nvPr/>
        </p:nvSpPr>
        <p:spPr>
          <a:xfrm>
            <a:off x="868680" y="1325880"/>
            <a:ext cx="4846320" cy="41148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No Personal Data</a:t>
            </a:r>
            <a:endParaRPr lang="en-US" sz="1500" dirty="0"/>
          </a:p>
        </p:txBody>
      </p:sp>
      <p:sp>
        <p:nvSpPr>
          <p:cNvPr id="7" name="Text 5"/>
          <p:cNvSpPr/>
          <p:nvPr/>
        </p:nvSpPr>
        <p:spPr>
          <a:xfrm>
            <a:off x="868680" y="1783080"/>
            <a:ext cx="4846320" cy="1371600"/>
          </a:xfrm>
          <a:prstGeom prst="rect">
            <a:avLst/>
          </a:prstGeom>
          <a:noFill/>
          <a:ln/>
        </p:spPr>
        <p:txBody>
          <a:bodyPr wrap="square" rtlCol="0" anchor="t"/>
          <a:lstStyle/>
          <a:p>
            <a:pPr marL="0" indent="0">
              <a:lnSpc>
                <a:spcPct val="130000"/>
              </a:lnSpc>
              <a:buNone/>
            </a:pPr>
            <a:r>
              <a:rPr lang="en-US" sz="1250" dirty="0">
                <a:solidFill>
                  <a:srgbClr val="E6E6FA"/>
                </a:solidFill>
                <a:latin typeface="Calibri" pitchFamily="34" charset="0"/>
                <a:ea typeface="Calibri" pitchFamily="34" charset="-122"/>
                <a:cs typeface="Calibri" pitchFamily="34" charset="-120"/>
              </a:rPr>
              <a:t>The dataset consists entirely of physical measurements from a telescope — photon shower parameters recorded by sensors. There is no personally identifiable information, eliminating privacy and consent concerns entirely.</a:t>
            </a:r>
            <a:endParaRPr lang="en-US" sz="1250" dirty="0"/>
          </a:p>
        </p:txBody>
      </p:sp>
      <p:sp>
        <p:nvSpPr>
          <p:cNvPr id="8" name="Shape 6"/>
          <p:cNvSpPr/>
          <p:nvPr/>
        </p:nvSpPr>
        <p:spPr>
          <a:xfrm>
            <a:off x="6309360" y="118872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9" name="Shape 7"/>
          <p:cNvSpPr/>
          <p:nvPr/>
        </p:nvSpPr>
        <p:spPr>
          <a:xfrm>
            <a:off x="6309360" y="1188720"/>
            <a:ext cx="73152" cy="2103120"/>
          </a:xfrm>
          <a:prstGeom prst="rect">
            <a:avLst/>
          </a:prstGeom>
          <a:solidFill>
            <a:srgbClr val="6C63FF"/>
          </a:solidFill>
          <a:ln/>
        </p:spPr>
        <p:txBody>
          <a:bodyPr/>
          <a:lstStyle/>
          <a:p>
            <a:endParaRPr lang="en-US"/>
          </a:p>
        </p:txBody>
      </p:sp>
      <p:sp>
        <p:nvSpPr>
          <p:cNvPr id="10" name="Text 8"/>
          <p:cNvSpPr/>
          <p:nvPr/>
        </p:nvSpPr>
        <p:spPr>
          <a:xfrm>
            <a:off x="6629400" y="1325880"/>
            <a:ext cx="4846320" cy="41148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Reproducibility &amp; Transparency</a:t>
            </a:r>
            <a:endParaRPr lang="en-US" sz="1500" dirty="0"/>
          </a:p>
        </p:txBody>
      </p:sp>
      <p:sp>
        <p:nvSpPr>
          <p:cNvPr id="11" name="Text 9"/>
          <p:cNvSpPr/>
          <p:nvPr/>
        </p:nvSpPr>
        <p:spPr>
          <a:xfrm>
            <a:off x="6629400" y="1783080"/>
            <a:ext cx="4846320" cy="1371600"/>
          </a:xfrm>
          <a:prstGeom prst="rect">
            <a:avLst/>
          </a:prstGeom>
          <a:noFill/>
          <a:ln/>
        </p:spPr>
        <p:txBody>
          <a:bodyPr wrap="square" rtlCol="0" anchor="t"/>
          <a:lstStyle/>
          <a:p>
            <a:pPr marL="0" indent="0">
              <a:lnSpc>
                <a:spcPct val="130000"/>
              </a:lnSpc>
              <a:buNone/>
            </a:pPr>
            <a:r>
              <a:rPr lang="en-US" sz="1250" dirty="0">
                <a:solidFill>
                  <a:srgbClr val="E6E6FA"/>
                </a:solidFill>
                <a:latin typeface="Calibri" pitchFamily="34" charset="0"/>
                <a:ea typeface="Calibri" pitchFamily="34" charset="-122"/>
                <a:cs typeface="Calibri" pitchFamily="34" charset="-120"/>
              </a:rPr>
              <a:t>All preprocessing steps, model configurations, and hyperparameter search spaces are fully documented. The dataset is publicly available from the UCI repository, enabling independent verification and reproducibility of all reported results.</a:t>
            </a:r>
            <a:endParaRPr lang="en-US" sz="1250" dirty="0"/>
          </a:p>
        </p:txBody>
      </p:sp>
      <p:sp>
        <p:nvSpPr>
          <p:cNvPr id="12" name="Shape 10"/>
          <p:cNvSpPr/>
          <p:nvPr/>
        </p:nvSpPr>
        <p:spPr>
          <a:xfrm>
            <a:off x="548640" y="365760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3" name="Shape 11"/>
          <p:cNvSpPr/>
          <p:nvPr/>
        </p:nvSpPr>
        <p:spPr>
          <a:xfrm>
            <a:off x="548640" y="3657600"/>
            <a:ext cx="73152" cy="2103120"/>
          </a:xfrm>
          <a:prstGeom prst="rect">
            <a:avLst/>
          </a:prstGeom>
          <a:solidFill>
            <a:srgbClr val="6C63FF"/>
          </a:solidFill>
          <a:ln/>
        </p:spPr>
        <p:txBody>
          <a:bodyPr/>
          <a:lstStyle/>
          <a:p>
            <a:endParaRPr lang="en-US"/>
          </a:p>
        </p:txBody>
      </p:sp>
      <p:sp>
        <p:nvSpPr>
          <p:cNvPr id="14" name="Text 12"/>
          <p:cNvSpPr/>
          <p:nvPr/>
        </p:nvSpPr>
        <p:spPr>
          <a:xfrm>
            <a:off x="868680" y="3794760"/>
            <a:ext cx="4846320" cy="41148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Bias Considerations</a:t>
            </a:r>
            <a:endParaRPr lang="en-US" sz="1500" dirty="0"/>
          </a:p>
        </p:txBody>
      </p:sp>
      <p:sp>
        <p:nvSpPr>
          <p:cNvPr id="15" name="Text 13"/>
          <p:cNvSpPr/>
          <p:nvPr/>
        </p:nvSpPr>
        <p:spPr>
          <a:xfrm>
            <a:off x="868680" y="4251960"/>
            <a:ext cx="4846320" cy="1371600"/>
          </a:xfrm>
          <a:prstGeom prst="rect">
            <a:avLst/>
          </a:prstGeom>
          <a:noFill/>
          <a:ln/>
        </p:spPr>
        <p:txBody>
          <a:bodyPr wrap="square" rtlCol="0" anchor="t"/>
          <a:lstStyle/>
          <a:p>
            <a:pPr marL="0" indent="0">
              <a:lnSpc>
                <a:spcPct val="130000"/>
              </a:lnSpc>
              <a:buNone/>
            </a:pPr>
            <a:r>
              <a:rPr lang="en-US" sz="1250" dirty="0">
                <a:solidFill>
                  <a:srgbClr val="E6E6FA"/>
                </a:solidFill>
                <a:latin typeface="Calibri" pitchFamily="34" charset="0"/>
                <a:ea typeface="Calibri" pitchFamily="34" charset="-122"/>
                <a:cs typeface="Calibri" pitchFamily="34" charset="-120"/>
              </a:rPr>
              <a:t>Class imbalance (65% gamma vs 35% hadron) could bias models toward the majority class. We address this by optimising on F1-score rather than accuracy, ensuring balanced precision-recall trade-offs for both signal and background events.</a:t>
            </a:r>
            <a:endParaRPr lang="en-US" sz="1250" dirty="0"/>
          </a:p>
        </p:txBody>
      </p:sp>
      <p:sp>
        <p:nvSpPr>
          <p:cNvPr id="16" name="Shape 14"/>
          <p:cNvSpPr/>
          <p:nvPr/>
        </p:nvSpPr>
        <p:spPr>
          <a:xfrm>
            <a:off x="6309360" y="365760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7" name="Shape 15"/>
          <p:cNvSpPr/>
          <p:nvPr/>
        </p:nvSpPr>
        <p:spPr>
          <a:xfrm>
            <a:off x="6309360" y="3657600"/>
            <a:ext cx="73152" cy="2103120"/>
          </a:xfrm>
          <a:prstGeom prst="rect">
            <a:avLst/>
          </a:prstGeom>
          <a:solidFill>
            <a:srgbClr val="6C63FF"/>
          </a:solidFill>
          <a:ln/>
        </p:spPr>
        <p:txBody>
          <a:bodyPr/>
          <a:lstStyle/>
          <a:p>
            <a:endParaRPr lang="en-US"/>
          </a:p>
        </p:txBody>
      </p:sp>
      <p:sp>
        <p:nvSpPr>
          <p:cNvPr id="18" name="Text 16"/>
          <p:cNvSpPr/>
          <p:nvPr/>
        </p:nvSpPr>
        <p:spPr>
          <a:xfrm>
            <a:off x="6629400" y="3794760"/>
            <a:ext cx="4846320" cy="41148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Responsible Deployment</a:t>
            </a:r>
            <a:endParaRPr lang="en-US" sz="1500" dirty="0"/>
          </a:p>
        </p:txBody>
      </p:sp>
      <p:sp>
        <p:nvSpPr>
          <p:cNvPr id="19" name="Text 17"/>
          <p:cNvSpPr/>
          <p:nvPr/>
        </p:nvSpPr>
        <p:spPr>
          <a:xfrm>
            <a:off x="6629400" y="4251960"/>
            <a:ext cx="4846320" cy="1371600"/>
          </a:xfrm>
          <a:prstGeom prst="rect">
            <a:avLst/>
          </a:prstGeom>
          <a:noFill/>
          <a:ln/>
        </p:spPr>
        <p:txBody>
          <a:bodyPr wrap="square" rtlCol="0" anchor="t"/>
          <a:lstStyle/>
          <a:p>
            <a:pPr marL="0" indent="0">
              <a:lnSpc>
                <a:spcPct val="130000"/>
              </a:lnSpc>
              <a:buNone/>
            </a:pPr>
            <a:r>
              <a:rPr lang="en-US" sz="1250" dirty="0">
                <a:solidFill>
                  <a:srgbClr val="E6E6FA"/>
                </a:solidFill>
                <a:latin typeface="Calibri" pitchFamily="34" charset="0"/>
                <a:ea typeface="Calibri" pitchFamily="34" charset="-122"/>
                <a:cs typeface="Calibri" pitchFamily="34" charset="-120"/>
              </a:rPr>
              <a:t>Misclassification in this domain affects telescope observation time, not human welfare. However, false positives waste limited observation resources while false negatives miss genuine astrophysical sources, making precision-recall balance operationally important.</a:t>
            </a:r>
            <a:endParaRPr lang="en-US" sz="1250" dirty="0"/>
          </a:p>
        </p:txBody>
      </p:sp>
      <p:sp>
        <p:nvSpPr>
          <p:cNvPr id="20" name="Text 18"/>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21" name="Text 19"/>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Exploratory Data Analysis</a:t>
            </a:r>
            <a:endParaRPr lang="en-US" sz="3800" dirty="0"/>
          </a:p>
        </p:txBody>
      </p:sp>
      <p:sp>
        <p:nvSpPr>
          <p:cNvPr id="4" name="Shape 2"/>
          <p:cNvSpPr/>
          <p:nvPr/>
        </p:nvSpPr>
        <p:spPr>
          <a:xfrm>
            <a:off x="548640" y="1097280"/>
            <a:ext cx="5303520" cy="274320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pic>
        <p:nvPicPr>
          <p:cNvPr id="5" name="Image 0" descr="/Users/zahoorkhan/Desktop/Jan-2025 DS UOH/ Semester-3 all Projects/Project By Faizan/28. Shahab Zaman/3. Presentation Part/Plots/plot_02_Distribution_of_Signal_Gamma_vs_Background_Hadron.png"/>
          <p:cNvPicPr>
            <a:picLocks noChangeAspect="1"/>
          </p:cNvPicPr>
          <p:nvPr/>
        </p:nvPicPr>
        <p:blipFill>
          <a:blip r:embed="rId3"/>
          <a:srcRect/>
          <a:stretch/>
        </p:blipFill>
        <p:spPr>
          <a:xfrm>
            <a:off x="731520" y="1234440"/>
            <a:ext cx="4937760" cy="2468880"/>
          </a:xfrm>
          <a:prstGeom prst="rect">
            <a:avLst/>
          </a:prstGeom>
        </p:spPr>
      </p:pic>
      <p:sp>
        <p:nvSpPr>
          <p:cNvPr id="6" name="Shape 3"/>
          <p:cNvSpPr/>
          <p:nvPr/>
        </p:nvSpPr>
        <p:spPr>
          <a:xfrm>
            <a:off x="6309360" y="1097280"/>
            <a:ext cx="5303520" cy="274320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pic>
        <p:nvPicPr>
          <p:cNvPr id="7" name="Image 1" descr="/Users/zahoorkhan/Desktop/Jan-2025 DS UOH/ Semester-3 all Projects/Project By Faizan/28. Shahab Zaman/3. Presentation Part/Plots/plot_05_Feature_Correlation_Heatmap.png"/>
          <p:cNvPicPr>
            <a:picLocks noChangeAspect="1"/>
          </p:cNvPicPr>
          <p:nvPr/>
        </p:nvPicPr>
        <p:blipFill>
          <a:blip r:embed="rId4"/>
          <a:srcRect/>
          <a:stretch/>
        </p:blipFill>
        <p:spPr>
          <a:xfrm>
            <a:off x="6492240" y="1234440"/>
            <a:ext cx="4937760" cy="2468880"/>
          </a:xfrm>
          <a:prstGeom prst="rect">
            <a:avLst/>
          </a:prstGeom>
        </p:spPr>
      </p:pic>
      <p:sp>
        <p:nvSpPr>
          <p:cNvPr id="8" name="Shape 4"/>
          <p:cNvSpPr/>
          <p:nvPr/>
        </p:nvSpPr>
        <p:spPr>
          <a:xfrm>
            <a:off x="548640" y="4114800"/>
            <a:ext cx="11064240" cy="192024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9" name="Text 5"/>
          <p:cNvSpPr/>
          <p:nvPr/>
        </p:nvSpPr>
        <p:spPr>
          <a:xfrm>
            <a:off x="822960" y="4206240"/>
            <a:ext cx="4572000" cy="365760"/>
          </a:xfrm>
          <a:prstGeom prst="rect">
            <a:avLst/>
          </a:prstGeom>
          <a:noFill/>
          <a:ln/>
        </p:spPr>
        <p:txBody>
          <a:bodyPr wrap="square" rtlCol="0" anchor="ctr"/>
          <a:lstStyle/>
          <a:p>
            <a:pPr marL="0" indent="0">
              <a:buNone/>
            </a:pPr>
            <a:r>
              <a:rPr lang="en-US" sz="1600" b="1" dirty="0">
                <a:solidFill>
                  <a:srgbClr val="6C63FF"/>
                </a:solidFill>
                <a:latin typeface="Georgia" pitchFamily="34" charset="0"/>
                <a:ea typeface="Georgia" pitchFamily="34" charset="-122"/>
                <a:cs typeface="Georgia" pitchFamily="34" charset="-120"/>
              </a:rPr>
              <a:t>Key Findings</a:t>
            </a:r>
            <a:endParaRPr lang="en-US" sz="1600" dirty="0"/>
          </a:p>
        </p:txBody>
      </p:sp>
      <p:sp>
        <p:nvSpPr>
          <p:cNvPr id="10" name="Text 6"/>
          <p:cNvSpPr/>
          <p:nvPr/>
        </p:nvSpPr>
        <p:spPr>
          <a:xfrm>
            <a:off x="822960" y="4617720"/>
            <a:ext cx="10515600" cy="1280160"/>
          </a:xfrm>
          <a:prstGeom prst="rect">
            <a:avLst/>
          </a:prstGeom>
          <a:noFill/>
          <a:ln/>
        </p:spPr>
        <p:txBody>
          <a:bodyPr wrap="square" rtlCol="0" anchor="t"/>
          <a:lstStyle/>
          <a:p>
            <a:pPr marL="0" indent="0">
              <a:lnSpc>
                <a:spcPct val="125000"/>
              </a:lnSpc>
              <a:buNone/>
            </a:pPr>
            <a:r>
              <a:rPr lang="en-US" sz="1250" b="1" dirty="0">
                <a:solidFill>
                  <a:srgbClr val="A490C2"/>
                </a:solidFill>
                <a:latin typeface="Calibri" pitchFamily="34" charset="0"/>
                <a:ea typeface="Calibri" pitchFamily="34" charset="-122"/>
                <a:cs typeface="Calibri" pitchFamily="34" charset="-120"/>
              </a:rPr>
              <a:t>Class Imbalance: </a:t>
            </a:r>
            <a:r>
              <a:rPr lang="en-US" sz="1250" dirty="0">
                <a:solidFill>
                  <a:srgbClr val="E6E6FA"/>
                </a:solidFill>
                <a:latin typeface="Calibri" pitchFamily="34" charset="0"/>
                <a:ea typeface="Calibri" pitchFamily="34" charset="-122"/>
                <a:cs typeface="Calibri" pitchFamily="34" charset="-120"/>
              </a:rPr>
              <a:t>Gamma rays constitute 64.8% of events versus 35.2% for hadrons, creating a moderate imbalance that favours the majority class if accuracy alone is used.</a:t>
            </a:r>
            <a:endParaRPr lang="en-US" sz="1250" dirty="0"/>
          </a:p>
          <a:p>
            <a:pPr marL="0" indent="0">
              <a:lnSpc>
                <a:spcPct val="125000"/>
              </a:lnSpc>
              <a:buNone/>
            </a:pPr>
            <a:r>
              <a:rPr lang="en-US" sz="1250" b="1" dirty="0">
                <a:solidFill>
                  <a:srgbClr val="A490C2"/>
                </a:solidFill>
                <a:latin typeface="Calibri" pitchFamily="34" charset="0"/>
                <a:ea typeface="Calibri" pitchFamily="34" charset="-122"/>
                <a:cs typeface="Calibri" pitchFamily="34" charset="-120"/>
              </a:rPr>
              <a:t>Feature Separation: </a:t>
            </a:r>
            <a:r>
              <a:rPr lang="en-US" sz="1250" dirty="0">
                <a:solidFill>
                  <a:srgbClr val="E6E6FA"/>
                </a:solidFill>
                <a:latin typeface="Calibri" pitchFamily="34" charset="0"/>
                <a:ea typeface="Calibri" pitchFamily="34" charset="-122"/>
                <a:cs typeface="Calibri" pitchFamily="34" charset="-120"/>
              </a:rPr>
              <a:t>KDE plots reveal that fAlpha and fLength provide the strongest class separation, while fAsym and fM3Trans show substantial overlap.</a:t>
            </a:r>
            <a:endParaRPr lang="en-US" sz="1250" dirty="0"/>
          </a:p>
          <a:p>
            <a:pPr marL="0" indent="0">
              <a:lnSpc>
                <a:spcPct val="125000"/>
              </a:lnSpc>
              <a:buNone/>
            </a:pPr>
            <a:r>
              <a:rPr lang="en-US" sz="1250" b="1" dirty="0">
                <a:solidFill>
                  <a:srgbClr val="A490C2"/>
                </a:solidFill>
                <a:latin typeface="Calibri" pitchFamily="34" charset="0"/>
                <a:ea typeface="Calibri" pitchFamily="34" charset="-122"/>
                <a:cs typeface="Calibri" pitchFamily="34" charset="-120"/>
              </a:rPr>
              <a:t>Correlation Structure: </a:t>
            </a:r>
            <a:r>
              <a:rPr lang="en-US" sz="1250" dirty="0">
                <a:solidFill>
                  <a:srgbClr val="E6E6FA"/>
                </a:solidFill>
                <a:latin typeface="Calibri" pitchFamily="34" charset="0"/>
                <a:ea typeface="Calibri" pitchFamily="34" charset="-122"/>
                <a:cs typeface="Calibri" pitchFamily="34" charset="-120"/>
              </a:rPr>
              <a:t>fConc and fConc1 are highly correlated (r ≈ 0.90). fLength–fWidth correlation is moderate. No severe multicollinearity issues requiring feature removal.</a:t>
            </a:r>
            <a:endParaRPr lang="en-US" sz="1250" dirty="0"/>
          </a:p>
        </p:txBody>
      </p:sp>
      <p:sp>
        <p:nvSpPr>
          <p:cNvPr id="11" name="Text 7"/>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12" name="Text 8"/>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Data Preprocessing</a:t>
            </a:r>
            <a:endParaRPr lang="en-US" sz="3800" dirty="0"/>
          </a:p>
        </p:txBody>
      </p:sp>
      <p:sp>
        <p:nvSpPr>
          <p:cNvPr id="4" name="Shape 2"/>
          <p:cNvSpPr/>
          <p:nvPr/>
        </p:nvSpPr>
        <p:spPr>
          <a:xfrm>
            <a:off x="548640" y="118872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Shape 3"/>
          <p:cNvSpPr/>
          <p:nvPr/>
        </p:nvSpPr>
        <p:spPr>
          <a:xfrm>
            <a:off x="777240" y="1417320"/>
            <a:ext cx="502920" cy="502920"/>
          </a:xfrm>
          <a:prstGeom prst="ellipse">
            <a:avLst/>
          </a:prstGeom>
          <a:solidFill>
            <a:srgbClr val="4A4E8F"/>
          </a:solidFill>
          <a:ln/>
        </p:spPr>
        <p:txBody>
          <a:bodyPr/>
          <a:lstStyle/>
          <a:p>
            <a:endParaRPr lang="en-US"/>
          </a:p>
        </p:txBody>
      </p:sp>
      <p:sp>
        <p:nvSpPr>
          <p:cNvPr id="6" name="Text 4"/>
          <p:cNvSpPr/>
          <p:nvPr/>
        </p:nvSpPr>
        <p:spPr>
          <a:xfrm>
            <a:off x="777240" y="1417320"/>
            <a:ext cx="50292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463040" y="1417320"/>
            <a:ext cx="420624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Label Encoding</a:t>
            </a:r>
            <a:endParaRPr lang="en-US" sz="1500" dirty="0"/>
          </a:p>
        </p:txBody>
      </p:sp>
      <p:sp>
        <p:nvSpPr>
          <p:cNvPr id="8" name="Text 6"/>
          <p:cNvSpPr/>
          <p:nvPr/>
        </p:nvSpPr>
        <p:spPr>
          <a:xfrm>
            <a:off x="822960" y="1965960"/>
            <a:ext cx="484632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The categorical target variable was encoded numerically using scikit-learn's LabelEncoder, mapping gamma rays ('g') to 1 and hadrons ('h') to 0. This binary encoding enables the use of standard classification algorithms and metric computation.</a:t>
            </a:r>
            <a:endParaRPr lang="en-US" sz="1200" dirty="0"/>
          </a:p>
        </p:txBody>
      </p:sp>
      <p:sp>
        <p:nvSpPr>
          <p:cNvPr id="9" name="Shape 7"/>
          <p:cNvSpPr/>
          <p:nvPr/>
        </p:nvSpPr>
        <p:spPr>
          <a:xfrm>
            <a:off x="6309360" y="118872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0" name="Shape 8"/>
          <p:cNvSpPr/>
          <p:nvPr/>
        </p:nvSpPr>
        <p:spPr>
          <a:xfrm>
            <a:off x="6537960" y="1417320"/>
            <a:ext cx="502920" cy="502920"/>
          </a:xfrm>
          <a:prstGeom prst="ellipse">
            <a:avLst/>
          </a:prstGeom>
          <a:solidFill>
            <a:srgbClr val="4A4E8F"/>
          </a:solidFill>
          <a:ln/>
        </p:spPr>
        <p:txBody>
          <a:bodyPr/>
          <a:lstStyle/>
          <a:p>
            <a:endParaRPr lang="en-US"/>
          </a:p>
        </p:txBody>
      </p:sp>
      <p:sp>
        <p:nvSpPr>
          <p:cNvPr id="11" name="Text 9"/>
          <p:cNvSpPr/>
          <p:nvPr/>
        </p:nvSpPr>
        <p:spPr>
          <a:xfrm>
            <a:off x="6537960" y="1417320"/>
            <a:ext cx="50292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7223760" y="1417320"/>
            <a:ext cx="420624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Feature Standardisation</a:t>
            </a:r>
            <a:endParaRPr lang="en-US" sz="1500" dirty="0"/>
          </a:p>
        </p:txBody>
      </p:sp>
      <p:sp>
        <p:nvSpPr>
          <p:cNvPr id="13" name="Text 11"/>
          <p:cNvSpPr/>
          <p:nvPr/>
        </p:nvSpPr>
        <p:spPr>
          <a:xfrm>
            <a:off x="6583680" y="1965960"/>
            <a:ext cx="484632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All 10 continuous features were standardised using StandardScaler (zero mean, unit variance). This is essential for distance-based models like KNN and SVM, where feature magnitude directly affects the distance computation and decision boundaries.</a:t>
            </a:r>
            <a:endParaRPr lang="en-US" sz="1200" dirty="0"/>
          </a:p>
        </p:txBody>
      </p:sp>
      <p:sp>
        <p:nvSpPr>
          <p:cNvPr id="14" name="Shape 12"/>
          <p:cNvSpPr/>
          <p:nvPr/>
        </p:nvSpPr>
        <p:spPr>
          <a:xfrm>
            <a:off x="548640" y="365760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5" name="Shape 13"/>
          <p:cNvSpPr/>
          <p:nvPr/>
        </p:nvSpPr>
        <p:spPr>
          <a:xfrm>
            <a:off x="777240" y="3886200"/>
            <a:ext cx="502920" cy="502920"/>
          </a:xfrm>
          <a:prstGeom prst="ellipse">
            <a:avLst/>
          </a:prstGeom>
          <a:solidFill>
            <a:srgbClr val="4A4E8F"/>
          </a:solidFill>
          <a:ln/>
        </p:spPr>
        <p:txBody>
          <a:bodyPr/>
          <a:lstStyle/>
          <a:p>
            <a:endParaRPr lang="en-US"/>
          </a:p>
        </p:txBody>
      </p:sp>
      <p:sp>
        <p:nvSpPr>
          <p:cNvPr id="16" name="Text 14"/>
          <p:cNvSpPr/>
          <p:nvPr/>
        </p:nvSpPr>
        <p:spPr>
          <a:xfrm>
            <a:off x="777240" y="3886200"/>
            <a:ext cx="50292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1463040" y="3886200"/>
            <a:ext cx="420624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Train/Test Split</a:t>
            </a:r>
            <a:endParaRPr lang="en-US" sz="1500" dirty="0"/>
          </a:p>
        </p:txBody>
      </p:sp>
      <p:sp>
        <p:nvSpPr>
          <p:cNvPr id="18" name="Text 16"/>
          <p:cNvSpPr/>
          <p:nvPr/>
        </p:nvSpPr>
        <p:spPr>
          <a:xfrm>
            <a:off x="822960" y="4434840"/>
            <a:ext cx="484632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The dataset was partitioned into 80% training (15,216 samples) and 20% testing (3,804 samples) using stratified random sampling to maintain the original class proportions in both subsets.</a:t>
            </a:r>
            <a:endParaRPr lang="en-US" sz="1200" dirty="0"/>
          </a:p>
        </p:txBody>
      </p:sp>
      <p:sp>
        <p:nvSpPr>
          <p:cNvPr id="19" name="Shape 17"/>
          <p:cNvSpPr/>
          <p:nvPr/>
        </p:nvSpPr>
        <p:spPr>
          <a:xfrm>
            <a:off x="6309360" y="3657600"/>
            <a:ext cx="5394960" cy="2103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20" name="Shape 18"/>
          <p:cNvSpPr/>
          <p:nvPr/>
        </p:nvSpPr>
        <p:spPr>
          <a:xfrm>
            <a:off x="6537960" y="3886200"/>
            <a:ext cx="502920" cy="502920"/>
          </a:xfrm>
          <a:prstGeom prst="ellipse">
            <a:avLst/>
          </a:prstGeom>
          <a:solidFill>
            <a:srgbClr val="4A4E8F"/>
          </a:solidFill>
          <a:ln/>
        </p:spPr>
        <p:txBody>
          <a:bodyPr/>
          <a:lstStyle/>
          <a:p>
            <a:endParaRPr lang="en-US"/>
          </a:p>
        </p:txBody>
      </p:sp>
      <p:sp>
        <p:nvSpPr>
          <p:cNvPr id="21" name="Text 19"/>
          <p:cNvSpPr/>
          <p:nvPr/>
        </p:nvSpPr>
        <p:spPr>
          <a:xfrm>
            <a:off x="6537960" y="3886200"/>
            <a:ext cx="50292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7223760" y="3886200"/>
            <a:ext cx="4206240" cy="457200"/>
          </a:xfrm>
          <a:prstGeom prst="rect">
            <a:avLst/>
          </a:prstGeom>
          <a:noFill/>
          <a:ln/>
        </p:spPr>
        <p:txBody>
          <a:bodyPr wrap="square" rtlCol="0" anchor="ctr"/>
          <a:lstStyle/>
          <a:p>
            <a:pPr marL="0" indent="0">
              <a:buNone/>
            </a:pPr>
            <a:r>
              <a:rPr lang="en-US" sz="1500" b="1" dirty="0">
                <a:solidFill>
                  <a:srgbClr val="A490C2"/>
                </a:solidFill>
                <a:latin typeface="Georgia" pitchFamily="34" charset="0"/>
                <a:ea typeface="Georgia" pitchFamily="34" charset="-122"/>
                <a:cs typeface="Georgia" pitchFamily="34" charset="-120"/>
              </a:rPr>
              <a:t>No Missing Data</a:t>
            </a:r>
            <a:endParaRPr lang="en-US" sz="1500" dirty="0"/>
          </a:p>
        </p:txBody>
      </p:sp>
      <p:sp>
        <p:nvSpPr>
          <p:cNvPr id="23" name="Text 21"/>
          <p:cNvSpPr/>
          <p:nvPr/>
        </p:nvSpPr>
        <p:spPr>
          <a:xfrm>
            <a:off x="6583680" y="4434840"/>
            <a:ext cx="4846320" cy="11887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The dataset contains zero missing values across all 11 columns, confirmed by both numerical summary and visual heatmap inspection. No imputation or data cleaning was required, allowing direct model training on the full feature set.</a:t>
            </a:r>
            <a:endParaRPr lang="en-US" sz="1200" dirty="0"/>
          </a:p>
        </p:txBody>
      </p:sp>
      <p:sp>
        <p:nvSpPr>
          <p:cNvPr id="24" name="Text 22"/>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25" name="Text 23"/>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Models Used</a:t>
            </a:r>
            <a:endParaRPr lang="en-US" sz="3800" dirty="0"/>
          </a:p>
        </p:txBody>
      </p:sp>
      <p:sp>
        <p:nvSpPr>
          <p:cNvPr id="4" name="Shape 2"/>
          <p:cNvSpPr/>
          <p:nvPr/>
        </p:nvSpPr>
        <p:spPr>
          <a:xfrm>
            <a:off x="548640" y="1097280"/>
            <a:ext cx="3383280" cy="49377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Shape 3"/>
          <p:cNvSpPr/>
          <p:nvPr/>
        </p:nvSpPr>
        <p:spPr>
          <a:xfrm>
            <a:off x="731520" y="1280160"/>
            <a:ext cx="1828800" cy="320040"/>
          </a:xfrm>
          <a:prstGeom prst="rect">
            <a:avLst/>
          </a:prstGeom>
          <a:solidFill>
            <a:srgbClr val="4A4E8F"/>
          </a:solidFill>
          <a:ln/>
        </p:spPr>
        <p:txBody>
          <a:bodyPr/>
          <a:lstStyle/>
          <a:p>
            <a:endParaRPr lang="en-US"/>
          </a:p>
        </p:txBody>
      </p:sp>
      <p:sp>
        <p:nvSpPr>
          <p:cNvPr id="6" name="Text 4"/>
          <p:cNvSpPr/>
          <p:nvPr/>
        </p:nvSpPr>
        <p:spPr>
          <a:xfrm>
            <a:off x="731520" y="1280160"/>
            <a:ext cx="1828800" cy="3200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Distance-Based</a:t>
            </a:r>
            <a:endParaRPr lang="en-US" sz="1000" dirty="0"/>
          </a:p>
        </p:txBody>
      </p:sp>
      <p:sp>
        <p:nvSpPr>
          <p:cNvPr id="7" name="Text 5"/>
          <p:cNvSpPr/>
          <p:nvPr/>
        </p:nvSpPr>
        <p:spPr>
          <a:xfrm>
            <a:off x="777240" y="1783080"/>
            <a:ext cx="2926080" cy="548640"/>
          </a:xfrm>
          <a:prstGeom prst="rect">
            <a:avLst/>
          </a:prstGeom>
          <a:noFill/>
          <a:ln/>
        </p:spPr>
        <p:txBody>
          <a:bodyPr wrap="square" rtlCol="0" anchor="ctr"/>
          <a:lstStyle/>
          <a:p>
            <a:pPr marL="0" indent="0">
              <a:buNone/>
            </a:pPr>
            <a:r>
              <a:rPr lang="en-US" sz="1400" b="1" dirty="0">
                <a:solidFill>
                  <a:srgbClr val="A490C2"/>
                </a:solidFill>
                <a:latin typeface="Georgia" pitchFamily="34" charset="0"/>
                <a:ea typeface="Georgia" pitchFamily="34" charset="-122"/>
                <a:cs typeface="Georgia" pitchFamily="34" charset="-120"/>
              </a:rPr>
              <a:t>K-Nearest Neighbours (KNN)</a:t>
            </a:r>
            <a:endParaRPr lang="en-US" sz="1400" dirty="0"/>
          </a:p>
        </p:txBody>
      </p:sp>
      <p:sp>
        <p:nvSpPr>
          <p:cNvPr id="8" name="Text 6"/>
          <p:cNvSpPr/>
          <p:nvPr/>
        </p:nvSpPr>
        <p:spPr>
          <a:xfrm>
            <a:off x="777240" y="2377440"/>
            <a:ext cx="2926080" cy="25603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Classifies each test event by a majority vote among its k nearest training neighbours in the standardised feature space. KNN is non-parametric, making no assumptions about the underlying data distribution. The 'distance' weighting scheme gives closer neighbours proportionally more influence, improving accuracy when class boundaries are irregular.</a:t>
            </a:r>
            <a:endParaRPr lang="en-US" sz="1200" dirty="0"/>
          </a:p>
        </p:txBody>
      </p:sp>
      <p:sp>
        <p:nvSpPr>
          <p:cNvPr id="9" name="Text 7"/>
          <p:cNvSpPr/>
          <p:nvPr/>
        </p:nvSpPr>
        <p:spPr>
          <a:xfrm>
            <a:off x="777240" y="5120640"/>
            <a:ext cx="2926080" cy="731520"/>
          </a:xfrm>
          <a:prstGeom prst="rect">
            <a:avLst/>
          </a:prstGeom>
          <a:noFill/>
          <a:ln/>
        </p:spPr>
        <p:txBody>
          <a:bodyPr wrap="square" rtlCol="0" anchor="t"/>
          <a:lstStyle/>
          <a:p>
            <a:pPr marL="0" indent="0">
              <a:buNone/>
            </a:pPr>
            <a:r>
              <a:rPr lang="en-US" sz="1050" i="1" dirty="0">
                <a:solidFill>
                  <a:srgbClr val="B8B0D0"/>
                </a:solidFill>
                <a:latin typeface="Calibri" pitchFamily="34" charset="0"/>
                <a:ea typeface="Calibri" pitchFamily="34" charset="-122"/>
                <a:cs typeface="Calibri" pitchFamily="34" charset="-120"/>
              </a:rPr>
              <a:t>Default: k=5, weights=uniform, p=2 (Euclidean)</a:t>
            </a:r>
            <a:endParaRPr lang="en-US" sz="1050" dirty="0"/>
          </a:p>
        </p:txBody>
      </p:sp>
      <p:sp>
        <p:nvSpPr>
          <p:cNvPr id="10" name="Shape 8"/>
          <p:cNvSpPr/>
          <p:nvPr/>
        </p:nvSpPr>
        <p:spPr>
          <a:xfrm>
            <a:off x="4297680" y="1097280"/>
            <a:ext cx="3383280" cy="49377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1" name="Shape 9"/>
          <p:cNvSpPr/>
          <p:nvPr/>
        </p:nvSpPr>
        <p:spPr>
          <a:xfrm>
            <a:off x="4480560" y="1280160"/>
            <a:ext cx="1828800" cy="320040"/>
          </a:xfrm>
          <a:prstGeom prst="rect">
            <a:avLst/>
          </a:prstGeom>
          <a:solidFill>
            <a:srgbClr val="4A4E8F"/>
          </a:solidFill>
          <a:ln/>
        </p:spPr>
        <p:txBody>
          <a:bodyPr/>
          <a:lstStyle/>
          <a:p>
            <a:endParaRPr lang="en-US"/>
          </a:p>
        </p:txBody>
      </p:sp>
      <p:sp>
        <p:nvSpPr>
          <p:cNvPr id="12" name="Text 10"/>
          <p:cNvSpPr/>
          <p:nvPr/>
        </p:nvSpPr>
        <p:spPr>
          <a:xfrm>
            <a:off x="4480560" y="1280160"/>
            <a:ext cx="1828800" cy="3200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Boundary-Based</a:t>
            </a:r>
            <a:endParaRPr lang="en-US" sz="1000" dirty="0"/>
          </a:p>
        </p:txBody>
      </p:sp>
      <p:sp>
        <p:nvSpPr>
          <p:cNvPr id="13" name="Text 11"/>
          <p:cNvSpPr/>
          <p:nvPr/>
        </p:nvSpPr>
        <p:spPr>
          <a:xfrm>
            <a:off x="4526280" y="1783080"/>
            <a:ext cx="2926080" cy="548640"/>
          </a:xfrm>
          <a:prstGeom prst="rect">
            <a:avLst/>
          </a:prstGeom>
          <a:noFill/>
          <a:ln/>
        </p:spPr>
        <p:txBody>
          <a:bodyPr wrap="square" rtlCol="0" anchor="ctr"/>
          <a:lstStyle/>
          <a:p>
            <a:pPr marL="0" indent="0">
              <a:buNone/>
            </a:pPr>
            <a:r>
              <a:rPr lang="en-US" sz="1400" b="1" dirty="0">
                <a:solidFill>
                  <a:srgbClr val="A490C2"/>
                </a:solidFill>
                <a:latin typeface="Georgia" pitchFamily="34" charset="0"/>
                <a:ea typeface="Georgia" pitchFamily="34" charset="-122"/>
                <a:cs typeface="Georgia" pitchFamily="34" charset="-120"/>
              </a:rPr>
              <a:t>Logistic Regression</a:t>
            </a:r>
            <a:endParaRPr lang="en-US" sz="1400" dirty="0"/>
          </a:p>
        </p:txBody>
      </p:sp>
      <p:sp>
        <p:nvSpPr>
          <p:cNvPr id="14" name="Text 12"/>
          <p:cNvSpPr/>
          <p:nvPr/>
        </p:nvSpPr>
        <p:spPr>
          <a:xfrm>
            <a:off x="4526280" y="2377440"/>
            <a:ext cx="2926080" cy="25603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Fits a linear decision boundary by modelling the log-odds of the gamma class as a linear combination of all 10 features. Despite its simplicity, logistic regression provides well-calibrated probability estimates and serves as a strong interpretable baseline against which more complex models are compared.</a:t>
            </a:r>
            <a:endParaRPr lang="en-US" sz="1200" dirty="0"/>
          </a:p>
        </p:txBody>
      </p:sp>
      <p:sp>
        <p:nvSpPr>
          <p:cNvPr id="15" name="Text 13"/>
          <p:cNvSpPr/>
          <p:nvPr/>
        </p:nvSpPr>
        <p:spPr>
          <a:xfrm>
            <a:off x="4526280" y="5120640"/>
            <a:ext cx="2926080" cy="731520"/>
          </a:xfrm>
          <a:prstGeom prst="rect">
            <a:avLst/>
          </a:prstGeom>
          <a:noFill/>
          <a:ln/>
        </p:spPr>
        <p:txBody>
          <a:bodyPr wrap="square" rtlCol="0" anchor="t"/>
          <a:lstStyle/>
          <a:p>
            <a:pPr marL="0" indent="0">
              <a:buNone/>
            </a:pPr>
            <a:r>
              <a:rPr lang="en-US" sz="1050" i="1" dirty="0">
                <a:solidFill>
                  <a:srgbClr val="B8B0D0"/>
                </a:solidFill>
                <a:latin typeface="Calibri" pitchFamily="34" charset="0"/>
                <a:ea typeface="Calibri" pitchFamily="34" charset="-122"/>
                <a:cs typeface="Calibri" pitchFamily="34" charset="-120"/>
              </a:rPr>
              <a:t>Default: solver=lbfgs, penalty=L2, max_iter=100</a:t>
            </a:r>
            <a:endParaRPr lang="en-US" sz="1050" dirty="0"/>
          </a:p>
        </p:txBody>
      </p:sp>
      <p:sp>
        <p:nvSpPr>
          <p:cNvPr id="16" name="Shape 14"/>
          <p:cNvSpPr/>
          <p:nvPr/>
        </p:nvSpPr>
        <p:spPr>
          <a:xfrm>
            <a:off x="8046720" y="1097280"/>
            <a:ext cx="3383280" cy="49377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7" name="Shape 15"/>
          <p:cNvSpPr/>
          <p:nvPr/>
        </p:nvSpPr>
        <p:spPr>
          <a:xfrm>
            <a:off x="8229600" y="1280160"/>
            <a:ext cx="1828800" cy="320040"/>
          </a:xfrm>
          <a:prstGeom prst="rect">
            <a:avLst/>
          </a:prstGeom>
          <a:solidFill>
            <a:srgbClr val="4A4E8F"/>
          </a:solidFill>
          <a:ln/>
        </p:spPr>
        <p:txBody>
          <a:bodyPr/>
          <a:lstStyle/>
          <a:p>
            <a:endParaRPr lang="en-US"/>
          </a:p>
        </p:txBody>
      </p:sp>
      <p:sp>
        <p:nvSpPr>
          <p:cNvPr id="18" name="Text 16"/>
          <p:cNvSpPr/>
          <p:nvPr/>
        </p:nvSpPr>
        <p:spPr>
          <a:xfrm>
            <a:off x="8229600" y="1280160"/>
            <a:ext cx="1828800" cy="32004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Boundary-Based</a:t>
            </a:r>
            <a:endParaRPr lang="en-US" sz="1000" dirty="0"/>
          </a:p>
        </p:txBody>
      </p:sp>
      <p:sp>
        <p:nvSpPr>
          <p:cNvPr id="19" name="Text 17"/>
          <p:cNvSpPr/>
          <p:nvPr/>
        </p:nvSpPr>
        <p:spPr>
          <a:xfrm>
            <a:off x="8275320" y="1783080"/>
            <a:ext cx="2926080" cy="548640"/>
          </a:xfrm>
          <a:prstGeom prst="rect">
            <a:avLst/>
          </a:prstGeom>
          <a:noFill/>
          <a:ln/>
        </p:spPr>
        <p:txBody>
          <a:bodyPr wrap="square" rtlCol="0" anchor="ctr"/>
          <a:lstStyle/>
          <a:p>
            <a:pPr marL="0" indent="0">
              <a:buNone/>
            </a:pPr>
            <a:r>
              <a:rPr lang="en-US" sz="1400" b="1" dirty="0">
                <a:solidFill>
                  <a:srgbClr val="A490C2"/>
                </a:solidFill>
                <a:latin typeface="Georgia" pitchFamily="34" charset="0"/>
                <a:ea typeface="Georgia" pitchFamily="34" charset="-122"/>
                <a:cs typeface="Georgia" pitchFamily="34" charset="-120"/>
              </a:rPr>
              <a:t>Support Vector Machine (SVM)</a:t>
            </a:r>
            <a:endParaRPr lang="en-US" sz="1400" dirty="0"/>
          </a:p>
        </p:txBody>
      </p:sp>
      <p:sp>
        <p:nvSpPr>
          <p:cNvPr id="20" name="Text 18"/>
          <p:cNvSpPr/>
          <p:nvPr/>
        </p:nvSpPr>
        <p:spPr>
          <a:xfrm>
            <a:off x="8275320" y="2377440"/>
            <a:ext cx="2926080" cy="2560320"/>
          </a:xfrm>
          <a:prstGeom prst="rect">
            <a:avLst/>
          </a:prstGeom>
          <a:noFill/>
          <a:ln/>
        </p:spPr>
        <p:txBody>
          <a:bodyPr wrap="square" rtlCol="0" anchor="t"/>
          <a:lstStyle/>
          <a:p>
            <a:pPr marL="0" indent="0">
              <a:lnSpc>
                <a:spcPct val="130000"/>
              </a:lnSpc>
              <a:buNone/>
            </a:pPr>
            <a:r>
              <a:rPr lang="en-US" sz="1200" dirty="0">
                <a:solidFill>
                  <a:srgbClr val="E6E6FA"/>
                </a:solidFill>
                <a:latin typeface="Calibri" pitchFamily="34" charset="0"/>
                <a:ea typeface="Calibri" pitchFamily="34" charset="-122"/>
                <a:cs typeface="Calibri" pitchFamily="34" charset="-120"/>
              </a:rPr>
              <a:t>Finds the maximum-margin hyperplane separating gamma and hadron events. With the RBF kernel, SVM can capture complex non-linear decision boundaries by mapping features into a high-dimensional space. Training is computationally intensive (O(n²) to O(n³)), but often yields superior accuracy on medium-sized datasets.</a:t>
            </a:r>
            <a:endParaRPr lang="en-US" sz="1200" dirty="0"/>
          </a:p>
        </p:txBody>
      </p:sp>
      <p:sp>
        <p:nvSpPr>
          <p:cNvPr id="21" name="Text 19"/>
          <p:cNvSpPr/>
          <p:nvPr/>
        </p:nvSpPr>
        <p:spPr>
          <a:xfrm>
            <a:off x="8275320" y="5120640"/>
            <a:ext cx="2926080" cy="731520"/>
          </a:xfrm>
          <a:prstGeom prst="rect">
            <a:avLst/>
          </a:prstGeom>
          <a:noFill/>
          <a:ln/>
        </p:spPr>
        <p:txBody>
          <a:bodyPr wrap="square" rtlCol="0" anchor="t"/>
          <a:lstStyle/>
          <a:p>
            <a:pPr marL="0" indent="0">
              <a:buNone/>
            </a:pPr>
            <a:r>
              <a:rPr lang="en-US" sz="1050" i="1" dirty="0">
                <a:solidFill>
                  <a:srgbClr val="B8B0D0"/>
                </a:solidFill>
                <a:latin typeface="Calibri" pitchFamily="34" charset="0"/>
                <a:ea typeface="Calibri" pitchFamily="34" charset="-122"/>
                <a:cs typeface="Calibri" pitchFamily="34" charset="-120"/>
              </a:rPr>
              <a:t>Default: kernel=rbf, C=1.0, gamma=scale, probability=True</a:t>
            </a:r>
            <a:endParaRPr lang="en-US" sz="1050" dirty="0"/>
          </a:p>
        </p:txBody>
      </p:sp>
      <p:sp>
        <p:nvSpPr>
          <p:cNvPr id="22" name="Text 20"/>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23" name="Text 21"/>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Baseline Model Results</a:t>
            </a:r>
            <a:endParaRPr lang="en-US" sz="3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1645920"/>
        </p:xfrm>
        <a:graphic>
          <a:graphicData uri="http://schemas.openxmlformats.org/drawingml/2006/table">
            <a:tbl>
              <a:tblPr/>
              <a:tblGrid>
                <a:gridCol w="32004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411480">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Model</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Accuracy</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Precision</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Recall</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F1-Score</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KNN (Distance-Based)</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0.8346</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0.8415</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0.6555</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0.7369</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Logistic Regression</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0.7931</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0.7610</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0.6042</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0.6736</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SVM (Boundary-Based)</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0.7936</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0.7567</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0.6131</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0.6774</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017520"/>
            <a:ext cx="5303520" cy="30175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pic>
        <p:nvPicPr>
          <p:cNvPr id="6" name="Image 0" descr="/Users/zahoorkhan/Desktop/Jan-2025 DS UOH/ Semester-3 all Projects/Project By Faizan/28. Shahab Zaman/3. Presentation Part/Plots/plot_03.png"/>
          <p:cNvPicPr>
            <a:picLocks noChangeAspect="1"/>
          </p:cNvPicPr>
          <p:nvPr/>
        </p:nvPicPr>
        <p:blipFill>
          <a:blip r:embed="rId3"/>
          <a:srcRect/>
          <a:stretch/>
        </p:blipFill>
        <p:spPr>
          <a:xfrm>
            <a:off x="731520" y="3154680"/>
            <a:ext cx="4937760" cy="2743200"/>
          </a:xfrm>
          <a:prstGeom prst="rect">
            <a:avLst/>
          </a:prstGeom>
        </p:spPr>
      </p:pic>
      <p:sp>
        <p:nvSpPr>
          <p:cNvPr id="7" name="Shape 3"/>
          <p:cNvSpPr/>
          <p:nvPr/>
        </p:nvSpPr>
        <p:spPr>
          <a:xfrm>
            <a:off x="6309360" y="3017520"/>
            <a:ext cx="5303520" cy="30175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8" name="Text 4"/>
          <p:cNvSpPr/>
          <p:nvPr/>
        </p:nvSpPr>
        <p:spPr>
          <a:xfrm>
            <a:off x="6583680" y="3154680"/>
            <a:ext cx="4572000" cy="411480"/>
          </a:xfrm>
          <a:prstGeom prst="rect">
            <a:avLst/>
          </a:prstGeom>
          <a:noFill/>
          <a:ln/>
        </p:spPr>
        <p:txBody>
          <a:bodyPr wrap="square" rtlCol="0" anchor="ctr"/>
          <a:lstStyle/>
          <a:p>
            <a:pPr marL="0" indent="0">
              <a:buNone/>
            </a:pPr>
            <a:r>
              <a:rPr lang="en-US" sz="1600" b="1" dirty="0">
                <a:solidFill>
                  <a:srgbClr val="6C63FF"/>
                </a:solidFill>
                <a:latin typeface="Georgia" pitchFamily="34" charset="0"/>
                <a:ea typeface="Georgia" pitchFamily="34" charset="-122"/>
                <a:cs typeface="Georgia" pitchFamily="34" charset="-120"/>
              </a:rPr>
              <a:t>Interpretation</a:t>
            </a:r>
            <a:endParaRPr lang="en-US" sz="1600" dirty="0"/>
          </a:p>
        </p:txBody>
      </p:sp>
      <p:sp>
        <p:nvSpPr>
          <p:cNvPr id="9" name="Text 5"/>
          <p:cNvSpPr/>
          <p:nvPr/>
        </p:nvSpPr>
        <p:spPr>
          <a:xfrm>
            <a:off x="6583680" y="3611880"/>
            <a:ext cx="4754880" cy="2286000"/>
          </a:xfrm>
          <a:prstGeom prst="rect">
            <a:avLst/>
          </a:prstGeom>
          <a:noFill/>
          <a:ln/>
        </p:spPr>
        <p:txBody>
          <a:bodyPr wrap="square" rtlCol="0" anchor="t"/>
          <a:lstStyle/>
          <a:p>
            <a:pPr marL="0" indent="0">
              <a:lnSpc>
                <a:spcPct val="125000"/>
              </a:lnSpc>
              <a:spcAft>
                <a:spcPts val="800"/>
              </a:spcAft>
              <a:buNone/>
            </a:pPr>
            <a:r>
              <a:rPr lang="en-US" sz="1200" dirty="0">
                <a:solidFill>
                  <a:srgbClr val="E6E6FA"/>
                </a:solidFill>
                <a:latin typeface="Calibri" pitchFamily="34" charset="0"/>
                <a:ea typeface="Calibri" pitchFamily="34" charset="-122"/>
                <a:cs typeface="Calibri" pitchFamily="34" charset="-120"/>
              </a:rPr>
              <a:t>KNN leads on all metrics with default parameters — its non-parametric nature captures the non-linear class boundary well in standardised feature space.</a:t>
            </a:r>
            <a:endParaRPr lang="en-US" sz="1200" dirty="0"/>
          </a:p>
          <a:p>
            <a:pPr marL="0" indent="0">
              <a:lnSpc>
                <a:spcPct val="125000"/>
              </a:lnSpc>
              <a:spcAft>
                <a:spcPts val="800"/>
              </a:spcAft>
              <a:buNone/>
            </a:pPr>
            <a:r>
              <a:rPr lang="en-US" sz="1200" dirty="0">
                <a:solidFill>
                  <a:srgbClr val="E6E6FA"/>
                </a:solidFill>
                <a:latin typeface="Calibri" pitchFamily="34" charset="0"/>
                <a:ea typeface="Calibri" pitchFamily="34" charset="-122"/>
                <a:cs typeface="Calibri" pitchFamily="34" charset="-120"/>
              </a:rPr>
              <a:t>SVM and Logistic Regression perform nearly identically at baseline. The default SVM (C=1.0, gamma=scale) has not been given enough regularisation freedom to separate the overlapping classes.</a:t>
            </a:r>
            <a:endParaRPr lang="en-US" sz="1200" dirty="0"/>
          </a:p>
          <a:p>
            <a:pPr marL="0" indent="0">
              <a:lnSpc>
                <a:spcPct val="125000"/>
              </a:lnSpc>
              <a:spcAft>
                <a:spcPts val="800"/>
              </a:spcAft>
              <a:buNone/>
            </a:pPr>
            <a:r>
              <a:rPr lang="en-US" sz="1200" dirty="0">
                <a:solidFill>
                  <a:srgbClr val="E6E6FA"/>
                </a:solidFill>
                <a:latin typeface="Calibri" pitchFamily="34" charset="0"/>
                <a:ea typeface="Calibri" pitchFamily="34" charset="-122"/>
                <a:cs typeface="Calibri" pitchFamily="34" charset="-120"/>
              </a:rPr>
              <a:t>All models show notably lower recall than precision, indicating a tendency to miss gamma signals — a common pattern with the class imbalance present in this dataset.</a:t>
            </a:r>
            <a:endParaRPr lang="en-US" sz="1200" dirty="0"/>
          </a:p>
          <a:p>
            <a:pPr marL="0" indent="0">
              <a:lnSpc>
                <a:spcPct val="125000"/>
              </a:lnSpc>
              <a:buNone/>
            </a:pPr>
            <a:r>
              <a:rPr lang="en-US" sz="1200" dirty="0">
                <a:solidFill>
                  <a:srgbClr val="E6E6FA"/>
                </a:solidFill>
                <a:latin typeface="Calibri" pitchFamily="34" charset="0"/>
                <a:ea typeface="Calibri" pitchFamily="34" charset="-122"/>
                <a:cs typeface="Calibri" pitchFamily="34" charset="-120"/>
              </a:rPr>
              <a:t>F1-score is our primary evaluation metric since it balances precision and recall, both crucial in telescope signal classification.</a:t>
            </a:r>
            <a:endParaRPr lang="en-US" sz="1200" dirty="0"/>
          </a:p>
        </p:txBody>
      </p:sp>
      <p:sp>
        <p:nvSpPr>
          <p:cNvPr id="10" name="Text 6"/>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4" name="Text 7"/>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Hyperparameter Tuning</a:t>
            </a:r>
            <a:endParaRPr lang="en-US" sz="3800" dirty="0"/>
          </a:p>
        </p:txBody>
      </p:sp>
      <p:sp>
        <p:nvSpPr>
          <p:cNvPr id="4" name="Text 2"/>
          <p:cNvSpPr/>
          <p:nvPr/>
        </p:nvSpPr>
        <p:spPr>
          <a:xfrm>
            <a:off x="548640" y="960120"/>
            <a:ext cx="10972800" cy="365760"/>
          </a:xfrm>
          <a:prstGeom prst="rect">
            <a:avLst/>
          </a:prstGeom>
          <a:noFill/>
          <a:ln/>
        </p:spPr>
        <p:txBody>
          <a:bodyPr wrap="square" rtlCol="0" anchor="ctr"/>
          <a:lstStyle/>
          <a:p>
            <a:pPr marL="0" indent="0">
              <a:buNone/>
            </a:pPr>
            <a:r>
              <a:rPr lang="en-US" sz="1300" i="1" dirty="0">
                <a:solidFill>
                  <a:srgbClr val="A490C2"/>
                </a:solidFill>
                <a:latin typeface="Calibri" pitchFamily="34" charset="0"/>
                <a:ea typeface="Calibri" pitchFamily="34" charset="-122"/>
                <a:cs typeface="Calibri" pitchFamily="34" charset="-120"/>
              </a:rPr>
              <a:t>Bayesian Optimisation with BayesSearchCV  |  25 iterations  |  5-fold Cross-Validation  |  F1-Score Objective</a:t>
            </a:r>
            <a:endParaRPr lang="en-US" sz="1300" dirty="0"/>
          </a:p>
        </p:txBody>
      </p:sp>
      <p:sp>
        <p:nvSpPr>
          <p:cNvPr id="5" name="Shape 3"/>
          <p:cNvSpPr/>
          <p:nvPr/>
        </p:nvSpPr>
        <p:spPr>
          <a:xfrm>
            <a:off x="548640" y="1463040"/>
            <a:ext cx="3383280" cy="4389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6" name="Shape 4"/>
          <p:cNvSpPr/>
          <p:nvPr/>
        </p:nvSpPr>
        <p:spPr>
          <a:xfrm>
            <a:off x="548640" y="1463040"/>
            <a:ext cx="3383280" cy="54864"/>
          </a:xfrm>
          <a:prstGeom prst="rect">
            <a:avLst/>
          </a:prstGeom>
          <a:solidFill>
            <a:srgbClr val="6C63FF"/>
          </a:solidFill>
          <a:ln/>
        </p:spPr>
        <p:txBody>
          <a:bodyPr/>
          <a:lstStyle/>
          <a:p>
            <a:endParaRPr lang="en-US"/>
          </a:p>
        </p:txBody>
      </p:sp>
      <p:sp>
        <p:nvSpPr>
          <p:cNvPr id="7" name="Text 5"/>
          <p:cNvSpPr/>
          <p:nvPr/>
        </p:nvSpPr>
        <p:spPr>
          <a:xfrm>
            <a:off x="777240" y="1645920"/>
            <a:ext cx="2926080" cy="457200"/>
          </a:xfrm>
          <a:prstGeom prst="rect">
            <a:avLst/>
          </a:prstGeom>
          <a:noFill/>
          <a:ln/>
        </p:spPr>
        <p:txBody>
          <a:bodyPr wrap="square" rtlCol="0" anchor="ctr"/>
          <a:lstStyle/>
          <a:p>
            <a:pPr marL="0" indent="0">
              <a:buNone/>
            </a:pPr>
            <a:r>
              <a:rPr lang="en-US" sz="1600" b="1" dirty="0">
                <a:solidFill>
                  <a:srgbClr val="A490C2"/>
                </a:solidFill>
                <a:latin typeface="Georgia" pitchFamily="34" charset="0"/>
                <a:ea typeface="Georgia" pitchFamily="34" charset="-122"/>
                <a:cs typeface="Georgia" pitchFamily="34" charset="-120"/>
              </a:rPr>
              <a:t>KNN</a:t>
            </a:r>
            <a:endParaRPr lang="en-US" sz="1600" dirty="0"/>
          </a:p>
        </p:txBody>
      </p:sp>
      <p:sp>
        <p:nvSpPr>
          <p:cNvPr id="8" name="Text 6"/>
          <p:cNvSpPr/>
          <p:nvPr/>
        </p:nvSpPr>
        <p:spPr>
          <a:xfrm>
            <a:off x="777240" y="21945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Search Space</a:t>
            </a:r>
            <a:endParaRPr lang="en-US" sz="1100" dirty="0"/>
          </a:p>
        </p:txBody>
      </p:sp>
      <p:sp>
        <p:nvSpPr>
          <p:cNvPr id="9" name="Text 7"/>
          <p:cNvSpPr/>
          <p:nvPr/>
        </p:nvSpPr>
        <p:spPr>
          <a:xfrm>
            <a:off x="777240" y="2514600"/>
            <a:ext cx="2926080" cy="100584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n_neighbors: [1, 30]</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weights: uniform, distance</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p: 1 (Manhattan), 2 (Euclidean)</a:t>
            </a:r>
            <a:endParaRPr lang="en-US" sz="1100" dirty="0"/>
          </a:p>
        </p:txBody>
      </p:sp>
      <p:sp>
        <p:nvSpPr>
          <p:cNvPr id="10" name="Text 8"/>
          <p:cNvSpPr/>
          <p:nvPr/>
        </p:nvSpPr>
        <p:spPr>
          <a:xfrm>
            <a:off x="777240" y="35661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Best Parameters</a:t>
            </a:r>
            <a:endParaRPr lang="en-US" sz="1100" dirty="0"/>
          </a:p>
        </p:txBody>
      </p:sp>
      <p:sp>
        <p:nvSpPr>
          <p:cNvPr id="11" name="Text 9"/>
          <p:cNvSpPr/>
          <p:nvPr/>
        </p:nvSpPr>
        <p:spPr>
          <a:xfrm>
            <a:off x="777240" y="3886200"/>
            <a:ext cx="2926080" cy="91440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n_neighbors = 6</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weights = distance</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p = 2 (Euclidean)</a:t>
            </a:r>
            <a:endParaRPr lang="en-US" sz="1100" dirty="0"/>
          </a:p>
        </p:txBody>
      </p:sp>
      <p:sp>
        <p:nvSpPr>
          <p:cNvPr id="12" name="Shape 10"/>
          <p:cNvSpPr/>
          <p:nvPr/>
        </p:nvSpPr>
        <p:spPr>
          <a:xfrm>
            <a:off x="1005840" y="5029200"/>
            <a:ext cx="2468880" cy="640080"/>
          </a:xfrm>
          <a:prstGeom prst="rect">
            <a:avLst/>
          </a:prstGeom>
          <a:solidFill>
            <a:srgbClr val="2B1E3E"/>
          </a:solidFill>
          <a:ln/>
        </p:spPr>
        <p:txBody>
          <a:bodyPr/>
          <a:lstStyle/>
          <a:p>
            <a:endParaRPr lang="en-US"/>
          </a:p>
        </p:txBody>
      </p:sp>
      <p:sp>
        <p:nvSpPr>
          <p:cNvPr id="13" name="Text 11"/>
          <p:cNvSpPr/>
          <p:nvPr/>
        </p:nvSpPr>
        <p:spPr>
          <a:xfrm>
            <a:off x="1005840" y="5029200"/>
            <a:ext cx="2468880" cy="640080"/>
          </a:xfrm>
          <a:prstGeom prst="rect">
            <a:avLst/>
          </a:prstGeom>
          <a:noFill/>
          <a:ln/>
        </p:spPr>
        <p:txBody>
          <a:bodyPr wrap="square" rtlCol="0" anchor="ctr"/>
          <a:lstStyle/>
          <a:p>
            <a:pPr marL="0" indent="0" algn="ctr">
              <a:buNone/>
            </a:pPr>
            <a:r>
              <a:rPr lang="en-US" sz="1600" b="1" dirty="0">
                <a:solidFill>
                  <a:srgbClr val="6C63FF"/>
                </a:solidFill>
                <a:latin typeface="Georgia" pitchFamily="34" charset="0"/>
                <a:ea typeface="Georgia" pitchFamily="34" charset="-122"/>
                <a:cs typeface="Georgia" pitchFamily="34" charset="-120"/>
              </a:rPr>
              <a:t>CV F1: 0.7463</a:t>
            </a:r>
            <a:endParaRPr lang="en-US" sz="1600" dirty="0"/>
          </a:p>
        </p:txBody>
      </p:sp>
      <p:sp>
        <p:nvSpPr>
          <p:cNvPr id="14" name="Shape 12"/>
          <p:cNvSpPr/>
          <p:nvPr/>
        </p:nvSpPr>
        <p:spPr>
          <a:xfrm>
            <a:off x="4297680" y="1463040"/>
            <a:ext cx="3383280" cy="4389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5" name="Shape 13"/>
          <p:cNvSpPr/>
          <p:nvPr/>
        </p:nvSpPr>
        <p:spPr>
          <a:xfrm>
            <a:off x="4297680" y="1463040"/>
            <a:ext cx="3383280" cy="54864"/>
          </a:xfrm>
          <a:prstGeom prst="rect">
            <a:avLst/>
          </a:prstGeom>
          <a:solidFill>
            <a:srgbClr val="6C63FF"/>
          </a:solidFill>
          <a:ln/>
        </p:spPr>
        <p:txBody>
          <a:bodyPr/>
          <a:lstStyle/>
          <a:p>
            <a:endParaRPr lang="en-US"/>
          </a:p>
        </p:txBody>
      </p:sp>
      <p:sp>
        <p:nvSpPr>
          <p:cNvPr id="16" name="Text 14"/>
          <p:cNvSpPr/>
          <p:nvPr/>
        </p:nvSpPr>
        <p:spPr>
          <a:xfrm>
            <a:off x="4526280" y="1645920"/>
            <a:ext cx="2926080" cy="457200"/>
          </a:xfrm>
          <a:prstGeom prst="rect">
            <a:avLst/>
          </a:prstGeom>
          <a:noFill/>
          <a:ln/>
        </p:spPr>
        <p:txBody>
          <a:bodyPr wrap="square" rtlCol="0" anchor="ctr"/>
          <a:lstStyle/>
          <a:p>
            <a:pPr marL="0" indent="0">
              <a:buNone/>
            </a:pPr>
            <a:r>
              <a:rPr lang="en-US" sz="1600" b="1" dirty="0">
                <a:solidFill>
                  <a:srgbClr val="A490C2"/>
                </a:solidFill>
                <a:latin typeface="Georgia" pitchFamily="34" charset="0"/>
                <a:ea typeface="Georgia" pitchFamily="34" charset="-122"/>
                <a:cs typeface="Georgia" pitchFamily="34" charset="-120"/>
              </a:rPr>
              <a:t>SVM</a:t>
            </a:r>
            <a:endParaRPr lang="en-US" sz="1600" dirty="0"/>
          </a:p>
        </p:txBody>
      </p:sp>
      <p:sp>
        <p:nvSpPr>
          <p:cNvPr id="17" name="Text 15"/>
          <p:cNvSpPr/>
          <p:nvPr/>
        </p:nvSpPr>
        <p:spPr>
          <a:xfrm>
            <a:off x="4526280" y="21945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Search Space</a:t>
            </a:r>
            <a:endParaRPr lang="en-US" sz="1100" dirty="0"/>
          </a:p>
        </p:txBody>
      </p:sp>
      <p:sp>
        <p:nvSpPr>
          <p:cNvPr id="18" name="Text 16"/>
          <p:cNvSpPr/>
          <p:nvPr/>
        </p:nvSpPr>
        <p:spPr>
          <a:xfrm>
            <a:off x="4526280" y="2514600"/>
            <a:ext cx="2926080" cy="100584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C: [0.01, 100] log-uniform</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gamma: [0.001, 0.1] log-uniform</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kernel: rbf</a:t>
            </a:r>
            <a:endParaRPr lang="en-US" sz="1100" dirty="0"/>
          </a:p>
        </p:txBody>
      </p:sp>
      <p:sp>
        <p:nvSpPr>
          <p:cNvPr id="19" name="Text 17"/>
          <p:cNvSpPr/>
          <p:nvPr/>
        </p:nvSpPr>
        <p:spPr>
          <a:xfrm>
            <a:off x="4526280" y="35661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Best Parameters</a:t>
            </a:r>
            <a:endParaRPr lang="en-US" sz="1100" dirty="0"/>
          </a:p>
        </p:txBody>
      </p:sp>
      <p:sp>
        <p:nvSpPr>
          <p:cNvPr id="20" name="Text 18"/>
          <p:cNvSpPr/>
          <p:nvPr/>
        </p:nvSpPr>
        <p:spPr>
          <a:xfrm>
            <a:off x="4526280" y="3886200"/>
            <a:ext cx="2926080" cy="91440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C = 59.18</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gamma = 0.0672</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kernel = rbf</a:t>
            </a:r>
            <a:endParaRPr lang="en-US" sz="1100" dirty="0"/>
          </a:p>
        </p:txBody>
      </p:sp>
      <p:sp>
        <p:nvSpPr>
          <p:cNvPr id="21" name="Shape 19"/>
          <p:cNvSpPr/>
          <p:nvPr/>
        </p:nvSpPr>
        <p:spPr>
          <a:xfrm>
            <a:off x="4754880" y="5029200"/>
            <a:ext cx="2468880" cy="640080"/>
          </a:xfrm>
          <a:prstGeom prst="rect">
            <a:avLst/>
          </a:prstGeom>
          <a:solidFill>
            <a:srgbClr val="2B1E3E"/>
          </a:solidFill>
          <a:ln/>
        </p:spPr>
        <p:txBody>
          <a:bodyPr/>
          <a:lstStyle/>
          <a:p>
            <a:endParaRPr lang="en-US"/>
          </a:p>
        </p:txBody>
      </p:sp>
      <p:sp>
        <p:nvSpPr>
          <p:cNvPr id="22" name="Text 20"/>
          <p:cNvSpPr/>
          <p:nvPr/>
        </p:nvSpPr>
        <p:spPr>
          <a:xfrm>
            <a:off x="4754880" y="5029200"/>
            <a:ext cx="2468880" cy="640080"/>
          </a:xfrm>
          <a:prstGeom prst="rect">
            <a:avLst/>
          </a:prstGeom>
          <a:noFill/>
          <a:ln/>
        </p:spPr>
        <p:txBody>
          <a:bodyPr wrap="square" rtlCol="0" anchor="ctr"/>
          <a:lstStyle/>
          <a:p>
            <a:pPr marL="0" indent="0" algn="ctr">
              <a:buNone/>
            </a:pPr>
            <a:r>
              <a:rPr lang="en-US" sz="1600" b="1" dirty="0">
                <a:solidFill>
                  <a:srgbClr val="6C63FF"/>
                </a:solidFill>
                <a:latin typeface="Georgia" pitchFamily="34" charset="0"/>
                <a:ea typeface="Georgia" pitchFamily="34" charset="-122"/>
                <a:cs typeface="Georgia" pitchFamily="34" charset="-120"/>
              </a:rPr>
              <a:t>CV F1: —*</a:t>
            </a:r>
            <a:endParaRPr lang="en-US" sz="1600" dirty="0"/>
          </a:p>
        </p:txBody>
      </p:sp>
      <p:sp>
        <p:nvSpPr>
          <p:cNvPr id="23" name="Shape 21"/>
          <p:cNvSpPr/>
          <p:nvPr/>
        </p:nvSpPr>
        <p:spPr>
          <a:xfrm>
            <a:off x="8046720" y="1463040"/>
            <a:ext cx="3383280" cy="438912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24" name="Shape 22"/>
          <p:cNvSpPr/>
          <p:nvPr/>
        </p:nvSpPr>
        <p:spPr>
          <a:xfrm>
            <a:off x="8046720" y="1463040"/>
            <a:ext cx="3383280" cy="54864"/>
          </a:xfrm>
          <a:prstGeom prst="rect">
            <a:avLst/>
          </a:prstGeom>
          <a:solidFill>
            <a:srgbClr val="6C63FF"/>
          </a:solidFill>
          <a:ln/>
        </p:spPr>
        <p:txBody>
          <a:bodyPr/>
          <a:lstStyle/>
          <a:p>
            <a:endParaRPr lang="en-US"/>
          </a:p>
        </p:txBody>
      </p:sp>
      <p:sp>
        <p:nvSpPr>
          <p:cNvPr id="25" name="Text 23"/>
          <p:cNvSpPr/>
          <p:nvPr/>
        </p:nvSpPr>
        <p:spPr>
          <a:xfrm>
            <a:off x="8275320" y="1645920"/>
            <a:ext cx="2926080" cy="457200"/>
          </a:xfrm>
          <a:prstGeom prst="rect">
            <a:avLst/>
          </a:prstGeom>
          <a:noFill/>
          <a:ln/>
        </p:spPr>
        <p:txBody>
          <a:bodyPr wrap="square" rtlCol="0" anchor="ctr"/>
          <a:lstStyle/>
          <a:p>
            <a:pPr marL="0" indent="0">
              <a:buNone/>
            </a:pPr>
            <a:r>
              <a:rPr lang="en-US" sz="1600" b="1" dirty="0">
                <a:solidFill>
                  <a:srgbClr val="A490C2"/>
                </a:solidFill>
                <a:latin typeface="Georgia" pitchFamily="34" charset="0"/>
                <a:ea typeface="Georgia" pitchFamily="34" charset="-122"/>
                <a:cs typeface="Georgia" pitchFamily="34" charset="-120"/>
              </a:rPr>
              <a:t>Logistic Regression</a:t>
            </a:r>
            <a:endParaRPr lang="en-US" sz="1600" dirty="0"/>
          </a:p>
        </p:txBody>
      </p:sp>
      <p:sp>
        <p:nvSpPr>
          <p:cNvPr id="26" name="Text 24"/>
          <p:cNvSpPr/>
          <p:nvPr/>
        </p:nvSpPr>
        <p:spPr>
          <a:xfrm>
            <a:off x="8275320" y="21945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Search Space</a:t>
            </a:r>
            <a:endParaRPr lang="en-US" sz="1100" dirty="0"/>
          </a:p>
        </p:txBody>
      </p:sp>
      <p:sp>
        <p:nvSpPr>
          <p:cNvPr id="27" name="Text 25"/>
          <p:cNvSpPr/>
          <p:nvPr/>
        </p:nvSpPr>
        <p:spPr>
          <a:xfrm>
            <a:off x="8275320" y="2514600"/>
            <a:ext cx="2926080" cy="100584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C: [0.0001, 100] log-uniform</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penalty: L2</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solver: lbfgs, liblinear</a:t>
            </a:r>
            <a:endParaRPr lang="en-US" sz="1100" dirty="0"/>
          </a:p>
        </p:txBody>
      </p:sp>
      <p:sp>
        <p:nvSpPr>
          <p:cNvPr id="28" name="Text 26"/>
          <p:cNvSpPr/>
          <p:nvPr/>
        </p:nvSpPr>
        <p:spPr>
          <a:xfrm>
            <a:off x="8275320" y="3566160"/>
            <a:ext cx="2926080" cy="320040"/>
          </a:xfrm>
          <a:prstGeom prst="rect">
            <a:avLst/>
          </a:prstGeom>
          <a:noFill/>
          <a:ln/>
        </p:spPr>
        <p:txBody>
          <a:bodyPr wrap="square" rtlCol="0" anchor="ctr"/>
          <a:lstStyle/>
          <a:p>
            <a:pPr marL="0" indent="0">
              <a:buNone/>
            </a:pPr>
            <a:r>
              <a:rPr lang="en-US" sz="1100" b="1" dirty="0">
                <a:solidFill>
                  <a:srgbClr val="B8B0D0"/>
                </a:solidFill>
                <a:latin typeface="Georgia" pitchFamily="34" charset="0"/>
                <a:ea typeface="Georgia" pitchFamily="34" charset="-122"/>
                <a:cs typeface="Georgia" pitchFamily="34" charset="-120"/>
              </a:rPr>
              <a:t>Best Parameters</a:t>
            </a:r>
            <a:endParaRPr lang="en-US" sz="1100" dirty="0"/>
          </a:p>
        </p:txBody>
      </p:sp>
      <p:sp>
        <p:nvSpPr>
          <p:cNvPr id="29" name="Text 27"/>
          <p:cNvSpPr/>
          <p:nvPr/>
        </p:nvSpPr>
        <p:spPr>
          <a:xfrm>
            <a:off x="8275320" y="3886200"/>
            <a:ext cx="2926080" cy="914400"/>
          </a:xfrm>
          <a:prstGeom prst="rect">
            <a:avLst/>
          </a:prstGeom>
          <a:noFill/>
          <a:ln/>
        </p:spPr>
        <p:txBody>
          <a:bodyPr wrap="square" rtlCol="0" anchor="ctr"/>
          <a:lstStyle/>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C = 0.7132</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penalty = L2</a:t>
            </a:r>
            <a:endParaRPr lang="en-US" sz="1100" dirty="0"/>
          </a:p>
          <a:p>
            <a:pPr marL="0" indent="0">
              <a:lnSpc>
                <a:spcPct val="130000"/>
              </a:lnSpc>
              <a:buNone/>
            </a:pPr>
            <a:r>
              <a:rPr lang="en-US" sz="1100" dirty="0">
                <a:solidFill>
                  <a:srgbClr val="E6E6FA"/>
                </a:solidFill>
                <a:latin typeface="Calibri" pitchFamily="34" charset="0"/>
                <a:ea typeface="Calibri" pitchFamily="34" charset="-122"/>
                <a:cs typeface="Calibri" pitchFamily="34" charset="-120"/>
              </a:rPr>
              <a:t>solver = liblinear</a:t>
            </a:r>
            <a:endParaRPr lang="en-US" sz="1100" dirty="0"/>
          </a:p>
        </p:txBody>
      </p:sp>
      <p:sp>
        <p:nvSpPr>
          <p:cNvPr id="30" name="Shape 28"/>
          <p:cNvSpPr/>
          <p:nvPr/>
        </p:nvSpPr>
        <p:spPr>
          <a:xfrm>
            <a:off x="8503920" y="5029200"/>
            <a:ext cx="2468880" cy="640080"/>
          </a:xfrm>
          <a:prstGeom prst="rect">
            <a:avLst/>
          </a:prstGeom>
          <a:solidFill>
            <a:srgbClr val="2B1E3E"/>
          </a:solidFill>
          <a:ln/>
        </p:spPr>
        <p:txBody>
          <a:bodyPr/>
          <a:lstStyle/>
          <a:p>
            <a:endParaRPr lang="en-US"/>
          </a:p>
        </p:txBody>
      </p:sp>
      <p:sp>
        <p:nvSpPr>
          <p:cNvPr id="31" name="Text 29"/>
          <p:cNvSpPr/>
          <p:nvPr/>
        </p:nvSpPr>
        <p:spPr>
          <a:xfrm>
            <a:off x="8503920" y="5029200"/>
            <a:ext cx="2468880" cy="640080"/>
          </a:xfrm>
          <a:prstGeom prst="rect">
            <a:avLst/>
          </a:prstGeom>
          <a:noFill/>
          <a:ln/>
        </p:spPr>
        <p:txBody>
          <a:bodyPr wrap="square" rtlCol="0" anchor="ctr"/>
          <a:lstStyle/>
          <a:p>
            <a:pPr marL="0" indent="0" algn="ctr">
              <a:buNone/>
            </a:pPr>
            <a:r>
              <a:rPr lang="en-US" sz="1600" b="1" dirty="0">
                <a:solidFill>
                  <a:srgbClr val="6C63FF"/>
                </a:solidFill>
                <a:latin typeface="Georgia" pitchFamily="34" charset="0"/>
                <a:ea typeface="Georgia" pitchFamily="34" charset="-122"/>
                <a:cs typeface="Georgia" pitchFamily="34" charset="-120"/>
              </a:rPr>
              <a:t>CV F1: 0.6641</a:t>
            </a:r>
            <a:endParaRPr lang="en-US" sz="1600" dirty="0"/>
          </a:p>
        </p:txBody>
      </p:sp>
      <p:sp>
        <p:nvSpPr>
          <p:cNvPr id="32" name="Text 30"/>
          <p:cNvSpPr/>
          <p:nvPr/>
        </p:nvSpPr>
        <p:spPr>
          <a:xfrm>
            <a:off x="548640" y="6035040"/>
            <a:ext cx="10972800" cy="274320"/>
          </a:xfrm>
          <a:prstGeom prst="rect">
            <a:avLst/>
          </a:prstGeom>
          <a:noFill/>
          <a:ln/>
        </p:spPr>
        <p:txBody>
          <a:bodyPr wrap="square" rtlCol="0" anchor="ctr"/>
          <a:lstStyle/>
          <a:p>
            <a:pPr marL="0" indent="0">
              <a:buNone/>
            </a:pPr>
            <a:r>
              <a:rPr lang="en-US" sz="1000" i="1" dirty="0">
                <a:solidFill>
                  <a:srgbClr val="B8B0D0"/>
                </a:solidFill>
                <a:latin typeface="Calibri" pitchFamily="34" charset="0"/>
                <a:ea typeface="Calibri" pitchFamily="34" charset="-122"/>
                <a:cs typeface="Calibri" pitchFamily="34" charset="-120"/>
              </a:rPr>
              <a:t>* SVM was tuned on a 20% stratified subsample for computational efficiency; CV F1 not directly comparable.</a:t>
            </a:r>
            <a:endParaRPr lang="en-US" sz="1000" dirty="0"/>
          </a:p>
        </p:txBody>
      </p:sp>
      <p:sp>
        <p:nvSpPr>
          <p:cNvPr id="33" name="Text 31"/>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34" name="Text 32"/>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Optimised Model Comparison</a:t>
            </a:r>
            <a:endParaRPr lang="en-US" sz="3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1645920"/>
        </p:xfrm>
        <a:graphic>
          <a:graphicData uri="http://schemas.openxmlformats.org/drawingml/2006/table">
            <a:tbl>
              <a:tblPr/>
              <a:tblGrid>
                <a:gridCol w="32004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411480">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Model</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Accuracy</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Precision</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Recall</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tc>
                  <a:txBody>
                    <a:bodyPr/>
                    <a:lstStyle/>
                    <a:p>
                      <a:pPr marL="0" indent="0" algn="ctr">
                        <a:buNone/>
                      </a:pPr>
                      <a:r>
                        <a:rPr lang="en-US" sz="1300" b="1" dirty="0">
                          <a:solidFill>
                            <a:srgbClr val="FFFFFF"/>
                          </a:solidFill>
                          <a:latin typeface="Georgia" pitchFamily="34" charset="0"/>
                          <a:ea typeface="Georgia" pitchFamily="34" charset="-122"/>
                          <a:cs typeface="Georgia" pitchFamily="34" charset="-120"/>
                        </a:rPr>
                        <a:t>F1-Score</a:t>
                      </a:r>
                      <a:endParaRPr lang="en-US" sz="1300" dirty="0">
                        <a:latin typeface="Georgia" charset="0"/>
                        <a:ea typeface="Georgia" charset="0"/>
                        <a:cs typeface="Georgia"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4A4E8F"/>
                    </a:solidFill>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KNN (Optimised)</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0.8441</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0.8607</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0.6667</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0.7514</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SVM (Optimised)</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0.8778</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0.9119</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0.7240</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tc>
                  <a:txBody>
                    <a:bodyPr/>
                    <a:lstStyle/>
                    <a:p>
                      <a:pPr marL="0" indent="0" algn="ctr">
                        <a:buNone/>
                      </a:pPr>
                      <a:r>
                        <a:rPr lang="en-US" sz="1300" b="1" dirty="0">
                          <a:solidFill>
                            <a:srgbClr val="6C63FF"/>
                          </a:solidFill>
                          <a:latin typeface="Calibri" pitchFamily="34" charset="0"/>
                          <a:ea typeface="Calibri" pitchFamily="34" charset="-122"/>
                          <a:cs typeface="Calibri" pitchFamily="34" charset="-120"/>
                        </a:rPr>
                        <a:t>0.8071</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362A50"/>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E6E6FA"/>
                          </a:solidFill>
                          <a:latin typeface="Calibri" pitchFamily="34" charset="0"/>
                          <a:ea typeface="Calibri" pitchFamily="34" charset="-122"/>
                          <a:cs typeface="Calibri" pitchFamily="34" charset="-120"/>
                        </a:rPr>
                        <a:t>  LogReg (Optimised)</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0.7931</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0.7610</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0.6042</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tc>
                  <a:txBody>
                    <a:bodyPr/>
                    <a:lstStyle/>
                    <a:p>
                      <a:pPr marL="0" indent="0" algn="ctr">
                        <a:buNone/>
                      </a:pPr>
                      <a:r>
                        <a:rPr lang="en-US" sz="1300" dirty="0">
                          <a:solidFill>
                            <a:srgbClr val="E6E6FA"/>
                          </a:solidFill>
                          <a:latin typeface="Calibri" pitchFamily="34" charset="0"/>
                          <a:ea typeface="Calibri" pitchFamily="34" charset="-122"/>
                          <a:cs typeface="Calibri" pitchFamily="34" charset="-120"/>
                        </a:rPr>
                        <a:t>0.6736</a:t>
                      </a:r>
                      <a:endParaRPr lang="en-US" sz="1300" dirty="0">
                        <a:latin typeface="Calibri" charset="0"/>
                        <a:ea typeface="Calibri" charset="0"/>
                        <a:cs typeface="Calibri" charset="0"/>
                      </a:endParaRPr>
                    </a:p>
                  </a:txBody>
                  <a:tcPr anchor="ctr">
                    <a:lnL w="6350" cap="flat" cmpd="sng" algn="ctr">
                      <a:solidFill>
                        <a:srgbClr val="2B1E3E"/>
                      </a:solidFill>
                      <a:prstDash val="solid"/>
                      <a:round/>
                      <a:headEnd type="none" w="med" len="med"/>
                      <a:tailEnd type="none" w="med" len="med"/>
                    </a:lnL>
                    <a:lnR w="6350" cap="flat" cmpd="sng" algn="ctr">
                      <a:solidFill>
                        <a:srgbClr val="2B1E3E"/>
                      </a:solidFill>
                      <a:prstDash val="solid"/>
                      <a:round/>
                      <a:headEnd type="none" w="med" len="med"/>
                      <a:tailEnd type="none" w="med" len="med"/>
                    </a:lnR>
                    <a:lnT w="6350" cap="flat" cmpd="sng" algn="ctr">
                      <a:solidFill>
                        <a:srgbClr val="2B1E3E"/>
                      </a:solidFill>
                      <a:prstDash val="solid"/>
                      <a:round/>
                      <a:headEnd type="none" w="med" len="med"/>
                      <a:tailEnd type="none" w="med" len="med"/>
                    </a:lnT>
                    <a:lnB w="6350" cap="flat" cmpd="sng" algn="ctr">
                      <a:solidFill>
                        <a:srgbClr val="2B1E3E"/>
                      </a:solidFill>
                      <a:prstDash val="solid"/>
                      <a:round/>
                      <a:headEnd type="none" w="med" len="med"/>
                      <a:tailEnd type="none" w="med" len="med"/>
                    </a:lnB>
                    <a:solidFill>
                      <a:srgbClr val="2F2248"/>
                    </a:solidFill>
                  </a:tcPr>
                </a:tc>
                <a:extLst>
                  <a:ext uri="{0D108BD9-81ED-4DB2-BD59-A6C34878D82A}">
                    <a16:rowId xmlns:a16="http://schemas.microsoft.com/office/drawing/2014/main" val="10003"/>
                  </a:ext>
                </a:extLst>
              </a:tr>
            </a:tbl>
          </a:graphicData>
        </a:graphic>
      </p:graphicFrame>
      <p:graphicFrame>
        <p:nvGraphicFramePr>
          <p:cNvPr id="5" name="Chart 0"/>
          <p:cNvGraphicFramePr/>
          <p:nvPr/>
        </p:nvGraphicFramePr>
        <p:xfrm>
          <a:off x="548640" y="3017520"/>
          <a:ext cx="53035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309360" y="3017520"/>
            <a:ext cx="5303520" cy="356616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7" name="Text 3"/>
          <p:cNvSpPr/>
          <p:nvPr/>
        </p:nvSpPr>
        <p:spPr>
          <a:xfrm>
            <a:off x="6583680" y="3154680"/>
            <a:ext cx="4572000" cy="411480"/>
          </a:xfrm>
          <a:prstGeom prst="rect">
            <a:avLst/>
          </a:prstGeom>
          <a:noFill/>
          <a:ln/>
        </p:spPr>
        <p:txBody>
          <a:bodyPr wrap="square" rtlCol="0" anchor="ctr"/>
          <a:lstStyle/>
          <a:p>
            <a:pPr marL="0" indent="0">
              <a:buNone/>
            </a:pPr>
            <a:r>
              <a:rPr lang="en-US" sz="1600" b="1" dirty="0">
                <a:solidFill>
                  <a:srgbClr val="6C63FF"/>
                </a:solidFill>
                <a:latin typeface="Georgia" pitchFamily="34" charset="0"/>
                <a:ea typeface="Georgia" pitchFamily="34" charset="-122"/>
                <a:cs typeface="Georgia" pitchFamily="34" charset="-120"/>
              </a:rPr>
              <a:t>Analysis</a:t>
            </a:r>
            <a:endParaRPr lang="en-US" sz="1600" dirty="0"/>
          </a:p>
        </p:txBody>
      </p:sp>
      <p:sp>
        <p:nvSpPr>
          <p:cNvPr id="8" name="Text 4"/>
          <p:cNvSpPr/>
          <p:nvPr/>
        </p:nvSpPr>
        <p:spPr>
          <a:xfrm>
            <a:off x="6583680" y="3611880"/>
            <a:ext cx="4754880" cy="2286000"/>
          </a:xfrm>
          <a:prstGeom prst="rect">
            <a:avLst/>
          </a:prstGeom>
          <a:noFill/>
          <a:ln/>
        </p:spPr>
        <p:txBody>
          <a:bodyPr wrap="square" rtlCol="0" anchor="t"/>
          <a:lstStyle/>
          <a:p>
            <a:pPr marL="0" indent="0">
              <a:lnSpc>
                <a:spcPct val="120000"/>
              </a:lnSpc>
              <a:buNone/>
            </a:pPr>
            <a:r>
              <a:rPr lang="en-US" sz="1200" b="1" dirty="0">
                <a:solidFill>
                  <a:srgbClr val="A490C2"/>
                </a:solidFill>
                <a:latin typeface="Calibri" pitchFamily="34" charset="0"/>
                <a:ea typeface="Calibri" pitchFamily="34" charset="-122"/>
                <a:cs typeface="Calibri" pitchFamily="34" charset="-120"/>
              </a:rPr>
              <a:t>SVM dominates after tuning</a:t>
            </a:r>
            <a:r>
              <a:rPr lang="en-US" sz="1200" dirty="0">
                <a:solidFill>
                  <a:srgbClr val="E6E6FA"/>
                </a:solidFill>
                <a:latin typeface="Calibri" pitchFamily="34" charset="0"/>
                <a:ea typeface="Calibri" pitchFamily="34" charset="-122"/>
                <a:cs typeface="Calibri" pitchFamily="34" charset="-120"/>
              </a:rPr>
              <a:t> — F1 improved from 0.6774 to 0.8071 (+19.1%), the largest gain. With C=59.18 and gamma=0.0672, the RBF kernel now captures the non-linear gamma/hadron boundary far more effectively.</a:t>
            </a:r>
            <a:endParaRPr lang="en-US" sz="1200" dirty="0"/>
          </a:p>
          <a:p>
            <a:pPr marL="0" indent="0">
              <a:lnSpc>
                <a:spcPct val="120000"/>
              </a:lnSpc>
              <a:buNone/>
            </a:pPr>
            <a:r>
              <a:rPr lang="en-US" sz="1200" b="1" dirty="0">
                <a:solidFill>
                  <a:srgbClr val="A490C2"/>
                </a:solidFill>
                <a:latin typeface="Calibri" pitchFamily="34" charset="0"/>
                <a:ea typeface="Calibri" pitchFamily="34" charset="-122"/>
                <a:cs typeface="Calibri" pitchFamily="34" charset="-120"/>
              </a:rPr>
              <a:t>KNN improves modestly</a:t>
            </a:r>
            <a:r>
              <a:rPr lang="en-US" sz="1200" dirty="0">
                <a:solidFill>
                  <a:srgbClr val="E6E6FA"/>
                </a:solidFill>
                <a:latin typeface="Calibri" pitchFamily="34" charset="0"/>
                <a:ea typeface="Calibri" pitchFamily="34" charset="-122"/>
                <a:cs typeface="Calibri" pitchFamily="34" charset="-120"/>
              </a:rPr>
              <a:t> — F1 rose from 0.7369 to 0.7514 (+2.0%). Switching to distance-weighted voting (k=6) provided a small but consistent boost.</a:t>
            </a:r>
            <a:endParaRPr lang="en-US" sz="1200" dirty="0"/>
          </a:p>
          <a:p>
            <a:pPr marL="0" indent="0">
              <a:lnSpc>
                <a:spcPct val="120000"/>
              </a:lnSpc>
              <a:buNone/>
            </a:pPr>
            <a:r>
              <a:rPr lang="en-US" sz="1200" b="1" dirty="0">
                <a:solidFill>
                  <a:srgbClr val="A490C2"/>
                </a:solidFill>
                <a:latin typeface="Calibri" pitchFamily="34" charset="0"/>
                <a:ea typeface="Calibri" pitchFamily="34" charset="-122"/>
                <a:cs typeface="Calibri" pitchFamily="34" charset="-120"/>
              </a:rPr>
              <a:t>Logistic Regression is unchanged</a:t>
            </a:r>
            <a:r>
              <a:rPr lang="en-US" sz="1200" dirty="0">
                <a:solidFill>
                  <a:srgbClr val="E6E6FA"/>
                </a:solidFill>
                <a:latin typeface="Calibri" pitchFamily="34" charset="0"/>
                <a:ea typeface="Calibri" pitchFamily="34" charset="-122"/>
                <a:cs typeface="Calibri" pitchFamily="34" charset="-120"/>
              </a:rPr>
              <a:t> — F1 remained at 0.6736. The linear decision boundary cannot capture the non-linear class separation present in the Cherenkov image parameters.</a:t>
            </a:r>
            <a:endParaRPr lang="en-US" sz="1200" dirty="0"/>
          </a:p>
          <a:p>
            <a:pPr marL="0" indent="0">
              <a:lnSpc>
                <a:spcPct val="120000"/>
              </a:lnSpc>
              <a:buNone/>
            </a:pPr>
            <a:r>
              <a:rPr lang="en-US" sz="1200" b="1" dirty="0">
                <a:solidFill>
                  <a:srgbClr val="A490C2"/>
                </a:solidFill>
                <a:latin typeface="Calibri" pitchFamily="34" charset="0"/>
                <a:ea typeface="Calibri" pitchFamily="34" charset="-122"/>
                <a:cs typeface="Calibri" pitchFamily="34" charset="-120"/>
              </a:rPr>
              <a:t>Precision vs Recall: </a:t>
            </a:r>
            <a:r>
              <a:rPr lang="en-US" sz="1200" dirty="0">
                <a:solidFill>
                  <a:srgbClr val="E6E6FA"/>
                </a:solidFill>
                <a:latin typeface="Calibri" pitchFamily="34" charset="0"/>
                <a:ea typeface="Calibri" pitchFamily="34" charset="-122"/>
                <a:cs typeface="Calibri" pitchFamily="34" charset="-120"/>
              </a:rPr>
              <a:t>Optimised SVM achieves 91.2% precision with 72.4% recall — it rarely misidentifies hadrons as gamma, but still misses about 28% of genuine signals.</a:t>
            </a:r>
            <a:endParaRPr lang="en-US" sz="1200" dirty="0"/>
          </a:p>
        </p:txBody>
      </p:sp>
      <p:sp>
        <p:nvSpPr>
          <p:cNvPr id="9" name="Text 5"/>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10" name="Text 6"/>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Summary &amp; Conclusions</a:t>
            </a:r>
            <a:endParaRPr lang="en-US" sz="3800" dirty="0"/>
          </a:p>
        </p:txBody>
      </p:sp>
      <p:sp>
        <p:nvSpPr>
          <p:cNvPr id="4" name="Shape 2"/>
          <p:cNvSpPr/>
          <p:nvPr/>
        </p:nvSpPr>
        <p:spPr>
          <a:xfrm>
            <a:off x="548640" y="1097280"/>
            <a:ext cx="11064240" cy="1463040"/>
          </a:xfrm>
          <a:prstGeom prst="rect">
            <a:avLst/>
          </a:prstGeom>
          <a:solidFill>
            <a:srgbClr val="2B1E3E"/>
          </a:solidFill>
          <a:ln/>
          <a:effectLst>
            <a:outerShdw blurRad="101600" dist="38100" dir="8100000" algn="bl" rotWithShape="0">
              <a:srgbClr val="000000">
                <a:alpha val="35000"/>
              </a:srgbClr>
            </a:outerShdw>
          </a:effectLst>
        </p:spPr>
        <p:txBody>
          <a:bodyPr/>
          <a:lstStyle/>
          <a:p>
            <a:endParaRPr lang="en-US"/>
          </a:p>
        </p:txBody>
      </p:sp>
      <p:sp>
        <p:nvSpPr>
          <p:cNvPr id="5" name="Text 3"/>
          <p:cNvSpPr/>
          <p:nvPr/>
        </p:nvSpPr>
        <p:spPr>
          <a:xfrm>
            <a:off x="822960" y="1188720"/>
            <a:ext cx="7315200" cy="457200"/>
          </a:xfrm>
          <a:prstGeom prst="rect">
            <a:avLst/>
          </a:prstGeom>
          <a:noFill/>
          <a:ln/>
        </p:spPr>
        <p:txBody>
          <a:bodyPr wrap="square" rtlCol="0" anchor="ctr"/>
          <a:lstStyle/>
          <a:p>
            <a:pPr marL="0" indent="0">
              <a:buNone/>
            </a:pPr>
            <a:r>
              <a:rPr lang="en-US" sz="1800" b="1" dirty="0">
                <a:solidFill>
                  <a:srgbClr val="6C63FF"/>
                </a:solidFill>
                <a:latin typeface="Georgia" pitchFamily="34" charset="0"/>
                <a:ea typeface="Georgia" pitchFamily="34" charset="-122"/>
                <a:cs typeface="Georgia" pitchFamily="34" charset="-120"/>
              </a:rPr>
              <a:t>Best Model: Support Vector Machine (Optimised)</a:t>
            </a:r>
            <a:endParaRPr lang="en-US" sz="1800" dirty="0"/>
          </a:p>
        </p:txBody>
      </p:sp>
      <p:sp>
        <p:nvSpPr>
          <p:cNvPr id="6" name="Text 4"/>
          <p:cNvSpPr/>
          <p:nvPr/>
        </p:nvSpPr>
        <p:spPr>
          <a:xfrm>
            <a:off x="914400" y="1691640"/>
            <a:ext cx="219456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87.78%</a:t>
            </a:r>
            <a:endParaRPr lang="en-US" sz="2200" dirty="0"/>
          </a:p>
        </p:txBody>
      </p:sp>
      <p:sp>
        <p:nvSpPr>
          <p:cNvPr id="7" name="Text 5"/>
          <p:cNvSpPr/>
          <p:nvPr/>
        </p:nvSpPr>
        <p:spPr>
          <a:xfrm>
            <a:off x="914400" y="2148840"/>
            <a:ext cx="2194560" cy="274320"/>
          </a:xfrm>
          <a:prstGeom prst="rect">
            <a:avLst/>
          </a:prstGeom>
          <a:noFill/>
          <a:ln/>
        </p:spPr>
        <p:txBody>
          <a:bodyPr wrap="square" rtlCol="0" anchor="ctr"/>
          <a:lstStyle/>
          <a:p>
            <a:pPr marL="0" indent="0" algn="ctr">
              <a:buNone/>
            </a:pPr>
            <a:r>
              <a:rPr lang="en-US" sz="1100" dirty="0">
                <a:solidFill>
                  <a:srgbClr val="B8B0D0"/>
                </a:solidFill>
                <a:latin typeface="Calibri" pitchFamily="34" charset="0"/>
                <a:ea typeface="Calibri" pitchFamily="34" charset="-122"/>
                <a:cs typeface="Calibri" pitchFamily="34" charset="-120"/>
              </a:rPr>
              <a:t>Accuracy</a:t>
            </a:r>
            <a:endParaRPr lang="en-US" sz="1100" dirty="0"/>
          </a:p>
        </p:txBody>
      </p:sp>
      <p:sp>
        <p:nvSpPr>
          <p:cNvPr id="8" name="Text 6"/>
          <p:cNvSpPr/>
          <p:nvPr/>
        </p:nvSpPr>
        <p:spPr>
          <a:xfrm>
            <a:off x="3474720" y="1691640"/>
            <a:ext cx="219456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91.19%</a:t>
            </a:r>
            <a:endParaRPr lang="en-US" sz="2200" dirty="0"/>
          </a:p>
        </p:txBody>
      </p:sp>
      <p:sp>
        <p:nvSpPr>
          <p:cNvPr id="9" name="Text 7"/>
          <p:cNvSpPr/>
          <p:nvPr/>
        </p:nvSpPr>
        <p:spPr>
          <a:xfrm>
            <a:off x="3474720" y="2148840"/>
            <a:ext cx="2194560" cy="274320"/>
          </a:xfrm>
          <a:prstGeom prst="rect">
            <a:avLst/>
          </a:prstGeom>
          <a:noFill/>
          <a:ln/>
        </p:spPr>
        <p:txBody>
          <a:bodyPr wrap="square" rtlCol="0" anchor="ctr"/>
          <a:lstStyle/>
          <a:p>
            <a:pPr marL="0" indent="0" algn="ctr">
              <a:buNone/>
            </a:pPr>
            <a:r>
              <a:rPr lang="en-US" sz="1100" dirty="0">
                <a:solidFill>
                  <a:srgbClr val="B8B0D0"/>
                </a:solidFill>
                <a:latin typeface="Calibri" pitchFamily="34" charset="0"/>
                <a:ea typeface="Calibri" pitchFamily="34" charset="-122"/>
                <a:cs typeface="Calibri" pitchFamily="34" charset="-120"/>
              </a:rPr>
              <a:t>Precision</a:t>
            </a:r>
            <a:endParaRPr lang="en-US" sz="1100" dirty="0"/>
          </a:p>
        </p:txBody>
      </p:sp>
      <p:sp>
        <p:nvSpPr>
          <p:cNvPr id="10" name="Text 8"/>
          <p:cNvSpPr/>
          <p:nvPr/>
        </p:nvSpPr>
        <p:spPr>
          <a:xfrm>
            <a:off x="6035040" y="1691640"/>
            <a:ext cx="219456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72.40%</a:t>
            </a:r>
            <a:endParaRPr lang="en-US" sz="2200" dirty="0"/>
          </a:p>
        </p:txBody>
      </p:sp>
      <p:sp>
        <p:nvSpPr>
          <p:cNvPr id="11" name="Text 9"/>
          <p:cNvSpPr/>
          <p:nvPr/>
        </p:nvSpPr>
        <p:spPr>
          <a:xfrm>
            <a:off x="6035040" y="2148840"/>
            <a:ext cx="2194560" cy="274320"/>
          </a:xfrm>
          <a:prstGeom prst="rect">
            <a:avLst/>
          </a:prstGeom>
          <a:noFill/>
          <a:ln/>
        </p:spPr>
        <p:txBody>
          <a:bodyPr wrap="square" rtlCol="0" anchor="ctr"/>
          <a:lstStyle/>
          <a:p>
            <a:pPr marL="0" indent="0" algn="ctr">
              <a:buNone/>
            </a:pPr>
            <a:r>
              <a:rPr lang="en-US" sz="1100" dirty="0">
                <a:solidFill>
                  <a:srgbClr val="B8B0D0"/>
                </a:solidFill>
                <a:latin typeface="Calibri" pitchFamily="34" charset="0"/>
                <a:ea typeface="Calibri" pitchFamily="34" charset="-122"/>
                <a:cs typeface="Calibri" pitchFamily="34" charset="-120"/>
              </a:rPr>
              <a:t>Recall</a:t>
            </a:r>
            <a:endParaRPr lang="en-US" sz="1100" dirty="0"/>
          </a:p>
        </p:txBody>
      </p:sp>
      <p:sp>
        <p:nvSpPr>
          <p:cNvPr id="12" name="Text 10"/>
          <p:cNvSpPr/>
          <p:nvPr/>
        </p:nvSpPr>
        <p:spPr>
          <a:xfrm>
            <a:off x="8595360" y="1691640"/>
            <a:ext cx="2194560" cy="45720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0.8071</a:t>
            </a:r>
            <a:endParaRPr lang="en-US" sz="2200" dirty="0"/>
          </a:p>
        </p:txBody>
      </p:sp>
      <p:sp>
        <p:nvSpPr>
          <p:cNvPr id="13" name="Text 11"/>
          <p:cNvSpPr/>
          <p:nvPr/>
        </p:nvSpPr>
        <p:spPr>
          <a:xfrm>
            <a:off x="8595360" y="2148840"/>
            <a:ext cx="2194560" cy="274320"/>
          </a:xfrm>
          <a:prstGeom prst="rect">
            <a:avLst/>
          </a:prstGeom>
          <a:noFill/>
          <a:ln/>
        </p:spPr>
        <p:txBody>
          <a:bodyPr wrap="square" rtlCol="0" anchor="ctr"/>
          <a:lstStyle/>
          <a:p>
            <a:pPr marL="0" indent="0" algn="ctr">
              <a:buNone/>
            </a:pPr>
            <a:r>
              <a:rPr lang="en-US" sz="1100" dirty="0">
                <a:solidFill>
                  <a:srgbClr val="B8B0D0"/>
                </a:solidFill>
                <a:latin typeface="Calibri" pitchFamily="34" charset="0"/>
                <a:ea typeface="Calibri" pitchFamily="34" charset="-122"/>
                <a:cs typeface="Calibri" pitchFamily="34" charset="-120"/>
              </a:rPr>
              <a:t>F1-Score</a:t>
            </a:r>
            <a:endParaRPr lang="en-US" sz="1100" dirty="0"/>
          </a:p>
        </p:txBody>
      </p:sp>
      <p:sp>
        <p:nvSpPr>
          <p:cNvPr id="14" name="Shape 12"/>
          <p:cNvSpPr/>
          <p:nvPr/>
        </p:nvSpPr>
        <p:spPr>
          <a:xfrm>
            <a:off x="548640" y="2834640"/>
            <a:ext cx="5303520" cy="374904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5" name="Text 13"/>
          <p:cNvSpPr/>
          <p:nvPr/>
        </p:nvSpPr>
        <p:spPr>
          <a:xfrm>
            <a:off x="822960" y="2971800"/>
            <a:ext cx="4572000" cy="411480"/>
          </a:xfrm>
          <a:prstGeom prst="rect">
            <a:avLst/>
          </a:prstGeom>
          <a:noFill/>
          <a:ln/>
        </p:spPr>
        <p:txBody>
          <a:bodyPr wrap="square" rtlCol="0" anchor="ctr"/>
          <a:lstStyle/>
          <a:p>
            <a:pPr marL="0" indent="0">
              <a:buNone/>
            </a:pPr>
            <a:r>
              <a:rPr lang="en-US" sz="1600" b="1" dirty="0">
                <a:solidFill>
                  <a:srgbClr val="6C63FF"/>
                </a:solidFill>
                <a:latin typeface="Georgia" pitchFamily="34" charset="0"/>
                <a:ea typeface="Georgia" pitchFamily="34" charset="-122"/>
                <a:cs typeface="Georgia" pitchFamily="34" charset="-120"/>
              </a:rPr>
              <a:t>Key Takeaways</a:t>
            </a:r>
            <a:endParaRPr lang="en-US" sz="1600" dirty="0"/>
          </a:p>
        </p:txBody>
      </p:sp>
      <p:sp>
        <p:nvSpPr>
          <p:cNvPr id="16" name="Text 14"/>
          <p:cNvSpPr/>
          <p:nvPr/>
        </p:nvSpPr>
        <p:spPr>
          <a:xfrm>
            <a:off x="822960" y="3429000"/>
            <a:ext cx="4754880" cy="2468880"/>
          </a:xfrm>
          <a:prstGeom prst="rect">
            <a:avLst/>
          </a:prstGeom>
          <a:noFill/>
          <a:ln/>
        </p:spPr>
        <p:txBody>
          <a:bodyPr wrap="square" rtlCol="0" anchor="t"/>
          <a:lstStyle/>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Bayesian optimisation proved significantly more effective than default parameters, particularly for SVM where the F1-score jumped by 19 percentage points.</a:t>
            </a:r>
            <a:endParaRPr lang="en-US" sz="1200" dirty="0"/>
          </a:p>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The non-linear RBF kernel in SVM is well-suited to the complex geometry of Cherenkov shower images, outperforming both linear (LogReg) and instance-based (KNN) approaches.</a:t>
            </a:r>
            <a:endParaRPr lang="en-US" sz="1200" dirty="0"/>
          </a:p>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Class imbalance affects all models — recall consistently lags behind precision, suggesting future work could explore SMOTE or class-weighted loss functions.</a:t>
            </a:r>
            <a:endParaRPr lang="en-US" sz="1200" dirty="0"/>
          </a:p>
          <a:p>
            <a:pPr marL="342900" indent="-342900">
              <a:lnSpc>
                <a:spcPct val="125000"/>
              </a:lnSpc>
              <a:buSzPct val="100000"/>
              <a:buChar char="•"/>
            </a:pPr>
            <a:r>
              <a:rPr lang="en-US" sz="1200" dirty="0">
                <a:solidFill>
                  <a:srgbClr val="E6E6FA"/>
                </a:solidFill>
                <a:latin typeface="Calibri" pitchFamily="34" charset="0"/>
                <a:ea typeface="Calibri" pitchFamily="34" charset="-122"/>
                <a:cs typeface="Calibri" pitchFamily="34" charset="-120"/>
              </a:rPr>
              <a:t>The complete pipeline (StandardScaler → BayesSearchCV → SVM) is reproducible and can be deployed in real-time telescope classification systems.</a:t>
            </a:r>
            <a:endParaRPr lang="en-US" sz="1200" dirty="0"/>
          </a:p>
        </p:txBody>
      </p:sp>
      <p:sp>
        <p:nvSpPr>
          <p:cNvPr id="17" name="Shape 15"/>
          <p:cNvSpPr/>
          <p:nvPr/>
        </p:nvSpPr>
        <p:spPr>
          <a:xfrm>
            <a:off x="6309360" y="2834640"/>
            <a:ext cx="5303520" cy="320040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18" name="Text 16"/>
          <p:cNvSpPr/>
          <p:nvPr/>
        </p:nvSpPr>
        <p:spPr>
          <a:xfrm>
            <a:off x="6583680" y="2971800"/>
            <a:ext cx="4572000" cy="411480"/>
          </a:xfrm>
          <a:prstGeom prst="rect">
            <a:avLst/>
          </a:prstGeom>
          <a:noFill/>
          <a:ln/>
        </p:spPr>
        <p:txBody>
          <a:bodyPr wrap="square" rtlCol="0" anchor="ctr"/>
          <a:lstStyle/>
          <a:p>
            <a:pPr marL="0" indent="0">
              <a:buNone/>
            </a:pPr>
            <a:r>
              <a:rPr lang="en-US" sz="1600" b="1" dirty="0">
                <a:solidFill>
                  <a:srgbClr val="6C63FF"/>
                </a:solidFill>
                <a:latin typeface="Georgia" pitchFamily="34" charset="0"/>
                <a:ea typeface="Georgia" pitchFamily="34" charset="-122"/>
                <a:cs typeface="Georgia" pitchFamily="34" charset="-120"/>
              </a:rPr>
              <a:t>Future Directions</a:t>
            </a:r>
            <a:endParaRPr lang="en-US" sz="1600" dirty="0"/>
          </a:p>
        </p:txBody>
      </p:sp>
      <p:sp>
        <p:nvSpPr>
          <p:cNvPr id="19" name="Text 17"/>
          <p:cNvSpPr/>
          <p:nvPr/>
        </p:nvSpPr>
        <p:spPr>
          <a:xfrm>
            <a:off x="6583680" y="3429000"/>
            <a:ext cx="4754880" cy="2468880"/>
          </a:xfrm>
          <a:prstGeom prst="rect">
            <a:avLst/>
          </a:prstGeom>
          <a:noFill/>
          <a:ln/>
        </p:spPr>
        <p:txBody>
          <a:bodyPr wrap="square" rtlCol="0" anchor="t"/>
          <a:lstStyle/>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Apply SMOTE or class-weight adjustments to address the gamma/hadron imbalance and improve recall for minority class.</a:t>
            </a:r>
            <a:endParaRPr lang="en-US" sz="1200" dirty="0"/>
          </a:p>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Explore ensemble methods such as Random Forest and XGBoost, which have shown strong results in particle physics classification tasks.</a:t>
            </a:r>
            <a:endParaRPr lang="en-US" sz="1200" dirty="0"/>
          </a:p>
          <a:p>
            <a:pPr marL="342900" indent="-342900">
              <a:lnSpc>
                <a:spcPct val="125000"/>
              </a:lnSpc>
              <a:spcAft>
                <a:spcPts val="800"/>
              </a:spcAft>
              <a:buSzPct val="100000"/>
              <a:buChar char="•"/>
            </a:pPr>
            <a:r>
              <a:rPr lang="en-US" sz="1200" dirty="0">
                <a:solidFill>
                  <a:srgbClr val="E6E6FA"/>
                </a:solidFill>
                <a:latin typeface="Calibri" pitchFamily="34" charset="0"/>
                <a:ea typeface="Calibri" pitchFamily="34" charset="-122"/>
                <a:cs typeface="Calibri" pitchFamily="34" charset="-120"/>
              </a:rPr>
              <a:t>Investigate deep learning approaches (CNNs on raw telescope images) that bypass hand-crafted Hillas parameters entirely.</a:t>
            </a:r>
            <a:endParaRPr lang="en-US" sz="1200" dirty="0"/>
          </a:p>
          <a:p>
            <a:pPr marL="342900" indent="-342900">
              <a:lnSpc>
                <a:spcPct val="125000"/>
              </a:lnSpc>
              <a:buSzPct val="100000"/>
              <a:buChar char="•"/>
            </a:pPr>
            <a:r>
              <a:rPr lang="en-US" sz="1200" dirty="0">
                <a:solidFill>
                  <a:srgbClr val="E6E6FA"/>
                </a:solidFill>
                <a:latin typeface="Calibri" pitchFamily="34" charset="0"/>
                <a:ea typeface="Calibri" pitchFamily="34" charset="-122"/>
                <a:cs typeface="Calibri" pitchFamily="34" charset="-120"/>
              </a:rPr>
              <a:t>Deploy the optimised SVM in a real-time pipeline with MAGIC telescope data streams for on-the-fly event classification.</a:t>
            </a:r>
            <a:endParaRPr lang="en-US" sz="1200" dirty="0"/>
          </a:p>
        </p:txBody>
      </p:sp>
      <p:sp>
        <p:nvSpPr>
          <p:cNvPr id="21" name="Text 19"/>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128"/>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6C63FF"/>
          </a:solidFill>
          <a:ln/>
        </p:spPr>
        <p:txBody>
          <a:bodyPr/>
          <a:lstStyle/>
          <a:p>
            <a:endParaRPr lang="en-US"/>
          </a:p>
        </p:txBody>
      </p:sp>
      <p:sp>
        <p:nvSpPr>
          <p:cNvPr id="3" name="Text 1"/>
          <p:cNvSpPr/>
          <p:nvPr/>
        </p:nvSpPr>
        <p:spPr>
          <a:xfrm>
            <a:off x="548640" y="274320"/>
            <a:ext cx="10972800" cy="6400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References</a:t>
            </a:r>
            <a:endParaRPr lang="en-US" sz="3800" dirty="0"/>
          </a:p>
        </p:txBody>
      </p:sp>
      <p:sp>
        <p:nvSpPr>
          <p:cNvPr id="4" name="Shape 2"/>
          <p:cNvSpPr/>
          <p:nvPr/>
        </p:nvSpPr>
        <p:spPr>
          <a:xfrm>
            <a:off x="548640" y="1097280"/>
            <a:ext cx="11064240" cy="5029200"/>
          </a:xfrm>
          <a:prstGeom prst="rect">
            <a:avLst/>
          </a:prstGeom>
          <a:solidFill>
            <a:srgbClr val="231838"/>
          </a:solidFill>
          <a:ln/>
          <a:effectLst>
            <a:outerShdw blurRad="101600" dist="38100" dir="8100000" algn="bl" rotWithShape="0">
              <a:srgbClr val="000000">
                <a:alpha val="35000"/>
              </a:srgbClr>
            </a:outerShdw>
          </a:effectLst>
        </p:spPr>
        <p:txBody>
          <a:bodyPr/>
          <a:lstStyle/>
          <a:p>
            <a:endParaRPr lang="en-US"/>
          </a:p>
        </p:txBody>
      </p:sp>
      <p:sp>
        <p:nvSpPr>
          <p:cNvPr id="5" name="Text 3"/>
          <p:cNvSpPr/>
          <p:nvPr/>
        </p:nvSpPr>
        <p:spPr>
          <a:xfrm>
            <a:off x="822960" y="1280160"/>
            <a:ext cx="10515600" cy="4572000"/>
          </a:xfrm>
          <a:prstGeom prst="rect">
            <a:avLst/>
          </a:prstGeom>
          <a:noFill/>
          <a:ln/>
        </p:spPr>
        <p:txBody>
          <a:bodyPr wrap="square" rtlCol="0" anchor="t"/>
          <a:lstStyle/>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[1]  Albert, J., Aliu, E., Anderhub, H., Antoranz, P., Armada, A., Asensio, M., Baixeras, C., Barrio, J.A., Bartelt, M., Bartko, H. and Bastieri, D. (2008) 'Implementation of the random forest method for the Imaging Atmospheric Cherenkov Telescope MAGIC', Nuclear Instruments and Methods in Physics Research Section A, 588(3), pp. 424–432.</a:t>
            </a:r>
            <a:endParaRPr lang="en-US" sz="1150" dirty="0"/>
          </a:p>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[2]  Bock, R.K., Chilingarian, A., Gaug, M., Hakl, F., Hengstebeck, T., Jiřina, M., Klaschka, J., Kotrč, E., Savický, P., Towers, S. and Vaiciulis, A. (2004) 'Methods for multidimensional event classification: A case study using images from a Cherenkov gamma-ray telescope', Nuclear Instruments and Methods in Physics Research Section A, 516(2–3), pp. 511–528.</a:t>
            </a:r>
            <a:endParaRPr lang="en-US" sz="1150" dirty="0"/>
          </a:p>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[3]  Hillas, A.M. (1985) 'Cherenkov light images of EAS produced by primary gamma rays and by nuclei', 19th International Cosmic Ray Conference, La Jolla, CA, pp. 445–448.</a:t>
            </a:r>
            <a:endParaRPr lang="en-US" sz="1150" dirty="0"/>
          </a:p>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[4]  Pedregosa, F., Varoquaux, G., Gramfort, A., Michel, V., Thirion, B., Grisel, O., Blondel, M., Prettenhofer, P., Weiss, R., Dubourg, V. and Vanderplas, J. (2011) 'Scikit-learn: Machine learning in Python', Journal of Machine Learning Research, 12, pp. 2825–2830.</a:t>
            </a:r>
            <a:endParaRPr lang="en-US" sz="1150" dirty="0"/>
          </a:p>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[5]  Snoek, J., Larochelle, H. and Adams, R.P. (2012) 'Practical Bayesian optimization of machine learning algorithms', Advances in Neural Information Processing Systems, 25, pp. 2951–2959.</a:t>
            </a:r>
            <a:endParaRPr lang="en-US" sz="1150" dirty="0"/>
          </a:p>
          <a:p>
            <a:pPr marL="0" indent="0">
              <a:lnSpc>
                <a:spcPct val="130000"/>
              </a:lnSpc>
              <a:spcAft>
                <a:spcPts val="1000"/>
              </a:spcAft>
              <a:buNone/>
            </a:pPr>
            <a:r>
              <a:rPr lang="en-US" sz="1150" dirty="0">
                <a:solidFill>
                  <a:srgbClr val="E6E6FA"/>
                </a:solidFill>
                <a:latin typeface="Calibri" pitchFamily="34" charset="0"/>
                <a:ea typeface="Calibri" pitchFamily="34" charset="-122"/>
                <a:cs typeface="Calibri" pitchFamily="34" charset="-120"/>
              </a:rPr>
              <a:t>[6]  UCI Machine Learning Repository (2004) MAGIC Gamma Telescope Data Set. Available at: https://archive.ics.uci.edu/ml/datasets/MAGIC+Gamma+Telescope (Accessed: January 2025).</a:t>
            </a:r>
            <a:endParaRPr lang="en-US" sz="1150" dirty="0"/>
          </a:p>
        </p:txBody>
      </p:sp>
      <p:sp>
        <p:nvSpPr>
          <p:cNvPr id="6" name="Shape 4"/>
          <p:cNvSpPr/>
          <p:nvPr/>
        </p:nvSpPr>
        <p:spPr>
          <a:xfrm>
            <a:off x="0" y="6784848"/>
            <a:ext cx="12161520" cy="73152"/>
          </a:xfrm>
          <a:prstGeom prst="rect">
            <a:avLst/>
          </a:prstGeom>
          <a:solidFill>
            <a:srgbClr val="6C63FF"/>
          </a:solidFill>
          <a:ln/>
        </p:spPr>
        <p:txBody>
          <a:bodyPr/>
          <a:lstStyle/>
          <a:p>
            <a:endParaRPr lang="en-US"/>
          </a:p>
        </p:txBody>
      </p:sp>
      <p:sp>
        <p:nvSpPr>
          <p:cNvPr id="7" name="Text 5"/>
          <p:cNvSpPr/>
          <p:nvPr/>
        </p:nvSpPr>
        <p:spPr>
          <a:xfrm>
            <a:off x="457200" y="6446520"/>
            <a:ext cx="9144000" cy="274320"/>
          </a:xfrm>
          <a:prstGeom prst="rect">
            <a:avLst/>
          </a:prstGeom>
          <a:noFill/>
          <a:ln/>
        </p:spPr>
        <p:txBody>
          <a:bodyPr wrap="square" rtlCol="0" anchor="ctr"/>
          <a:lstStyle/>
          <a:p>
            <a:pPr marL="0" indent="0">
              <a:buNone/>
            </a:pPr>
            <a:r>
              <a:rPr lang="en-US" sz="900" i="1" dirty="0">
                <a:solidFill>
                  <a:srgbClr val="B8B0D0"/>
                </a:solidFill>
                <a:latin typeface="Calibri" pitchFamily="34" charset="0"/>
                <a:ea typeface="Calibri" pitchFamily="34" charset="-122"/>
                <a:cs typeface="Calibri" pitchFamily="34" charset="-120"/>
              </a:rPr>
              <a:t>Shahab Zaman  |  MSc Data Science  |  University of Hertfordshire</a:t>
            </a:r>
            <a:endParaRPr lang="en-US" sz="900" dirty="0"/>
          </a:p>
        </p:txBody>
      </p:sp>
      <p:sp>
        <p:nvSpPr>
          <p:cNvPr id="8" name="Text 6"/>
          <p:cNvSpPr/>
          <p:nvPr/>
        </p:nvSpPr>
        <p:spPr>
          <a:xfrm>
            <a:off x="10515600" y="6446520"/>
            <a:ext cx="1188720" cy="274320"/>
          </a:xfrm>
          <a:prstGeom prst="rect">
            <a:avLst/>
          </a:prstGeom>
          <a:noFill/>
          <a:ln/>
        </p:spPr>
        <p:txBody>
          <a:bodyPr wrap="square" rtlCol="0" anchor="ctr"/>
          <a:lstStyle/>
          <a:p>
            <a:pPr marL="0" indent="0" algn="r">
              <a:buNone/>
            </a:pPr>
            <a:r>
              <a:rPr lang="en-US" sz="900" dirty="0">
                <a:solidFill>
                  <a:srgbClr val="B8B0D0"/>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2464</Words>
  <Application>Microsoft Macintosh PowerPoint</Application>
  <PresentationFormat>Widescreen</PresentationFormat>
  <Paragraphs>275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 Signal Classification: Separating Gamma Rays from Hadronic Backgrounds</dc:title>
  <dc:subject>PptxGenJS Presentation</dc:subject>
  <dc:creator>Shahab Zaman</dc:creator>
  <cp:lastModifiedBy>Saddam Rahim [Student-PECS]</cp:lastModifiedBy>
  <cp:revision>2</cp:revision>
  <dcterms:created xsi:type="dcterms:W3CDTF">2026-03-17T02:20:16Z</dcterms:created>
  <dcterms:modified xsi:type="dcterms:W3CDTF">2026-03-17T02:33:42Z</dcterms:modified>
</cp:coreProperties>
</file>